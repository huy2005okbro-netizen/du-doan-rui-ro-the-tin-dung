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308cff0b494885" /><Relationship Type="http://schemas.openxmlformats.org/officeDocument/2006/relationships/extended-properties" Target="/docProps/app.xml" Id="R6c2e27e3491044b1" /><Relationship Type="http://schemas.openxmlformats.org/officeDocument/2006/relationships/officeDocument" Target="/ppt/presentation.xml" Id="R0b3d7f79e2b142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9c73c96ef4682"/>
  </p:sldMasterIdLst>
  <p:notesMasterIdLst>
    <p:notesMasterId xmlns:r="http://schemas.openxmlformats.org/officeDocument/2006/relationships" r:id="R74be2fa8f6ac4b8c"/>
  </p:notesMasterIdLst>
  <p:sldIdLst>
    <p:sldId xmlns:r="http://schemas.openxmlformats.org/officeDocument/2006/relationships" id="256" r:id="R52207ccb2eba464e"/>
    <p:sldId xmlns:r="http://schemas.openxmlformats.org/officeDocument/2006/relationships" id="257" r:id="R7d8a420abb5e4d8b"/>
    <p:sldId xmlns:r="http://schemas.openxmlformats.org/officeDocument/2006/relationships" id="258" r:id="R2352f4fea7d14b1d"/>
    <p:sldId xmlns:r="http://schemas.openxmlformats.org/officeDocument/2006/relationships" id="259" r:id="R74377288130e4c8a"/>
    <p:sldId xmlns:r="http://schemas.openxmlformats.org/officeDocument/2006/relationships" id="260" r:id="R61f2783bfda841e1"/>
    <p:sldId xmlns:r="http://schemas.openxmlformats.org/officeDocument/2006/relationships" id="261" r:id="Rb52b0aff688e4380"/>
    <p:sldId xmlns:r="http://schemas.openxmlformats.org/officeDocument/2006/relationships" id="262" r:id="Rceeed9e843df48a7"/>
    <p:sldId xmlns:r="http://schemas.openxmlformats.org/officeDocument/2006/relationships" id="263" r:id="R5a4c17df5d8746c6"/>
    <p:sldId xmlns:r="http://schemas.openxmlformats.org/officeDocument/2006/relationships" id="264" r:id="Rdcd6257680d84ba1"/>
    <p:sldId xmlns:r="http://schemas.openxmlformats.org/officeDocument/2006/relationships" id="265" r:id="Rd471f7f52b504ec9"/>
    <p:sldId xmlns:r="http://schemas.openxmlformats.org/officeDocument/2006/relationships" id="266" r:id="R3a22a970a07847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8a0d3c88c4489" /><Relationship Type="http://schemas.openxmlformats.org/officeDocument/2006/relationships/slideMaster" Target="/ppt/slideMasters/slideMaster1.xml" Id="R1ec9c73c96ef4682" /><Relationship Type="http://schemas.openxmlformats.org/officeDocument/2006/relationships/notesMaster" Target="/ppt/notesMasters/notesMaster1.xml" Id="R74be2fa8f6ac4b8c" /><Relationship Type="http://schemas.openxmlformats.org/officeDocument/2006/relationships/presProps" Target="/ppt/presProps.xml" Id="R2d698665d1974b85" /><Relationship Type="http://schemas.openxmlformats.org/officeDocument/2006/relationships/tableStyles" Target="/ppt/tableStyles.xml" Id="R73a19dcd9b7d4d56" /><Relationship Type="http://schemas.openxmlformats.org/officeDocument/2006/relationships/slide" Target="/ppt/slides/slide1.xml" Id="R52207ccb2eba464e" /><Relationship Type="http://schemas.openxmlformats.org/officeDocument/2006/relationships/slide" Target="/ppt/slides/slide2.xml" Id="R7d8a420abb5e4d8b" /><Relationship Type="http://schemas.openxmlformats.org/officeDocument/2006/relationships/slide" Target="/ppt/slides/slide3.xml" Id="R2352f4fea7d14b1d" /><Relationship Type="http://schemas.openxmlformats.org/officeDocument/2006/relationships/slide" Target="/ppt/slides/slide4.xml" Id="R74377288130e4c8a" /><Relationship Type="http://schemas.openxmlformats.org/officeDocument/2006/relationships/slide" Target="/ppt/slides/slide5.xml" Id="R61f2783bfda841e1" /><Relationship Type="http://schemas.openxmlformats.org/officeDocument/2006/relationships/slide" Target="/ppt/slides/slide6.xml" Id="Rb52b0aff688e4380" /><Relationship Type="http://schemas.openxmlformats.org/officeDocument/2006/relationships/slide" Target="/ppt/slides/slide7.xml" Id="Rceeed9e843df48a7" /><Relationship Type="http://schemas.openxmlformats.org/officeDocument/2006/relationships/slide" Target="/ppt/slides/slide8.xml" Id="R5a4c17df5d8746c6" /><Relationship Type="http://schemas.openxmlformats.org/officeDocument/2006/relationships/slide" Target="/ppt/slides/slide9.xml" Id="Rdcd6257680d84ba1" /><Relationship Type="http://schemas.openxmlformats.org/officeDocument/2006/relationships/slide" Target="/ppt/slides/slide10.xml" Id="Rd471f7f52b504ec9" /><Relationship Type="http://schemas.openxmlformats.org/officeDocument/2006/relationships/slide" Target="/ppt/slides/slide11.xml" Id="R3a22a970a078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318f3d4724a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5a362f69c47ae" /><Relationship Type="http://schemas.openxmlformats.org/officeDocument/2006/relationships/notesMaster" Target="/ppt/notesMasters/notesMaster1.xml" Id="R736fcf18c3e94b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8f1af8fb5f4064" /><Relationship Type="http://schemas.openxmlformats.org/officeDocument/2006/relationships/notesMaster" Target="/ppt/notesMasters/notesMaster1.xml" Id="R86376405bad744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ea790a817a4e54" /><Relationship Type="http://schemas.openxmlformats.org/officeDocument/2006/relationships/notesMaster" Target="/ppt/notesMasters/notesMaster1.xml" Id="Rd9b786ca965f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5aa6ee75d24642" /><Relationship Type="http://schemas.openxmlformats.org/officeDocument/2006/relationships/notesMaster" Target="/ppt/notesMasters/notesMaster1.xml" Id="Rd522cdee351847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a5aba59d134b1e" /><Relationship Type="http://schemas.openxmlformats.org/officeDocument/2006/relationships/notesMaster" Target="/ppt/notesMasters/notesMaster1.xml" Id="R12567b0ed8bf41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506d515ce4f82" /><Relationship Type="http://schemas.openxmlformats.org/officeDocument/2006/relationships/notesMaster" Target="/ppt/notesMasters/notesMaster1.xml" Id="R897e546403c74e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83bcce6af54555" /><Relationship Type="http://schemas.openxmlformats.org/officeDocument/2006/relationships/notesMaster" Target="/ppt/notesMasters/notesMaster1.xml" Id="Rba867946991443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91d49e035945d0" /><Relationship Type="http://schemas.openxmlformats.org/officeDocument/2006/relationships/notesMaster" Target="/ppt/notesMasters/notesMaster1.xml" Id="Re3eaf4b641e74b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b9fec32c3d4fc6" /><Relationship Type="http://schemas.openxmlformats.org/officeDocument/2006/relationships/notesMaster" Target="/ppt/notesMasters/notesMaster1.xml" Id="R278908f4e1dd45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abc87a57c64d01" /><Relationship Type="http://schemas.openxmlformats.org/officeDocument/2006/relationships/notesMaster" Target="/ppt/notesMasters/notesMaster1.xml" Id="R40543906e4ff4b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78ac5b87de4bea" /><Relationship Type="http://schemas.openxmlformats.org/officeDocument/2006/relationships/notesMaster" Target="/ppt/notesMasters/notesMaster1.xml" Id="R51961f06024844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33e206c87343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77b858a9bb49e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9a24fe4e0434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fb6567a874f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ad082c99c40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8b8720e9242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828D70-6AB7-4076-9354-1E21956BDC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B1E154B-A395-4394-85A2-F52840457F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835FEC-1EA3-4B08-BEED-859C5AF16F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4F4C32-4227-4A0C-A40B-BAE525110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C148A9-E645-44DC-A0F9-D80B1A3930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33D161-B603-4B01-99A5-CC01BF781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940774-12EB-45D2-8332-D9B36ED8A8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7DCB1A-DED4-4130-BC5C-AB26AA4F3D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F585F3-B0EB-4D37-ACCA-D47F81EE90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65E6E2-F797-4868-9978-1777750C04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f4bed218cd4930" /><Relationship Type="http://schemas.openxmlformats.org/officeDocument/2006/relationships/slideLayout" Target="/ppt/slideLayouts/slideLayout1.xml" Id="Rd4aac74517514584" /><Relationship Type="http://schemas.openxmlformats.org/officeDocument/2006/relationships/slideLayout" Target="/ppt/slideLayouts/slideLayout2.xml" Id="R3ed34d0b5ef749f4" /><Relationship Type="http://schemas.openxmlformats.org/officeDocument/2006/relationships/slideLayout" Target="/ppt/slideLayouts/slideLayout3.xml" Id="Rc92bac3751b04609" /><Relationship Type="http://schemas.openxmlformats.org/officeDocument/2006/relationships/slideLayout" Target="/ppt/slideLayouts/slideLayout4.xml" Id="R7451f064e0ed4967" /><Relationship Type="http://schemas.openxmlformats.org/officeDocument/2006/relationships/slideLayout" Target="/ppt/slideLayouts/slideLayout5.xml" Id="R9b5d1401bd734aba" /><Relationship Type="http://schemas.openxmlformats.org/officeDocument/2006/relationships/slideLayout" Target="/ppt/slideLayouts/slideLayout6.xml" Id="R433f7378e81c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ac74517514584"/>
    <p:sldLayoutId xmlns:r="http://schemas.openxmlformats.org/officeDocument/2006/relationships" id="2147483650" r:id="R3ed34d0b5ef749f4"/>
    <p:sldLayoutId xmlns:r="http://schemas.openxmlformats.org/officeDocument/2006/relationships" id="2147483651" r:id="Rc92bac3751b04609"/>
    <p:sldLayoutId xmlns:r="http://schemas.openxmlformats.org/officeDocument/2006/relationships" id="2147483652" r:id="R7451f064e0ed4967"/>
    <p:sldLayoutId xmlns:r="http://schemas.openxmlformats.org/officeDocument/2006/relationships" id="2147483653" r:id="R9b5d1401bd734aba"/>
    <p:sldLayoutId xmlns:r="http://schemas.openxmlformats.org/officeDocument/2006/relationships" id="2147483654" r:id="R433f7378e81c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44a6eb4654a77" /><Relationship Type="http://schemas.openxmlformats.org/officeDocument/2006/relationships/notesSlide" Target="/ppt/notesSlides/notesSlide1.xml" Id="R7a9f46e8653e4b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b96f88ade4da6" /><Relationship Type="http://schemas.openxmlformats.org/officeDocument/2006/relationships/notesSlide" Target="/ppt/notesSlides/notesSlide2.xml" Id="R443810c00b2b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9541446bc445c0" /><Relationship Type="http://schemas.openxmlformats.org/officeDocument/2006/relationships/image" Target="/ppt/media/image.png" Id="R61143a246c664f23" /><Relationship Type="http://schemas.openxmlformats.org/officeDocument/2006/relationships/notesSlide" Target="/ppt/notesSlides/notesSlide3.xml" Id="R7b459088e7f4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970cdb5ea47c7" /><Relationship Type="http://schemas.openxmlformats.org/officeDocument/2006/relationships/image" Target="/ppt/media/image2.png" Id="R4e982c8f10c34ba8" /><Relationship Type="http://schemas.openxmlformats.org/officeDocument/2006/relationships/notesSlide" Target="/ppt/notesSlides/notesSlide4.xml" Id="R233c1c1d247147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ce693cefb34f8d" /><Relationship Type="http://schemas.openxmlformats.org/officeDocument/2006/relationships/notesSlide" Target="/ppt/notesSlides/notesSlide5.xml" Id="Raecf2aff18d143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d91daf163417d" /><Relationship Type="http://schemas.openxmlformats.org/officeDocument/2006/relationships/image" Target="/ppt/media/image3.png" Id="R3093d7a0965842c9" /><Relationship Type="http://schemas.openxmlformats.org/officeDocument/2006/relationships/notesSlide" Target="/ppt/notesSlides/notesSlide6.xml" Id="Re0aac985062a42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9af7aed7a437d" /><Relationship Type="http://schemas.openxmlformats.org/officeDocument/2006/relationships/image" Target="/ppt/media/image4.png" Id="R34d874049059414f" /><Relationship Type="http://schemas.openxmlformats.org/officeDocument/2006/relationships/notesSlide" Target="/ppt/notesSlides/notesSlide7.xml" Id="Ra3c30cd02c7045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b2168b55f43e6" /><Relationship Type="http://schemas.openxmlformats.org/officeDocument/2006/relationships/image" Target="/ppt/media/image5.png" Id="R6fc59056e7d542b5" /><Relationship Type="http://schemas.openxmlformats.org/officeDocument/2006/relationships/notesSlide" Target="/ppt/notesSlides/notesSlide8.xml" Id="R11075d28666a4e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023083d8fc4d28" /><Relationship Type="http://schemas.openxmlformats.org/officeDocument/2006/relationships/image" Target="/ppt/media/image6.png" Id="R1ecda34ee78648dc" /><Relationship Type="http://schemas.openxmlformats.org/officeDocument/2006/relationships/notesSlide" Target="/ppt/notesSlides/notesSlide9.xml" Id="Rb0d2dac360ca43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8a6aba32f4c83" /><Relationship Type="http://schemas.openxmlformats.org/officeDocument/2006/relationships/notesSlide" Target="/ppt/notesSlides/notesSlide10.xml" Id="R56767a383ac54c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c0bb98f34c41ad" /><Relationship Type="http://schemas.openxmlformats.org/officeDocument/2006/relationships/notesSlide" Target="/ppt/notesSlides/notesSlide11.xml" Id="R9d24cdfd4d6e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68BC4-836F-4069-81CC-0037860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1095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C7D4"/>
          </a:solidFill>
          <a:ln xmlns:a="http://schemas.openxmlformats.org/drawingml/2006/main" w="0">
            <a:solidFill>
              <a:srgbClr val="8BC7D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78EEB-8A99-4BC4-B7D7-1071D07B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Dự đoán nguy cơ trễ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06F60-D383-4906-8BEC-14C2607D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thanh toán thẻ tín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C703C-4AF6-4E4D-99C5-34937D6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C6DDE8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6DDE8"/>
                </a:solidFill>
              </a:defRPr>
            </a:pPr>
            <a:r>
              <a:rPr sz="1575" b="0">
                <a:solidFill>
                  <a:srgbClr val="C6DDE8"/>
                </a:solidFill>
              </a:rPr>
              <a:t>Project 08 | Học máy cơ bản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C2844-3FBB-49B0-8526-AF82B5EF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E5EFF4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E5EFF4"/>
                </a:solidFill>
              </a:defRPr>
            </a:pPr>
            <a:r>
              <a:rPr sz="1350" b="0">
                <a:solidFill>
                  <a:srgbClr val="E5EFF4"/>
                </a:solidFill>
              </a:rPr>
              <a:t>Thành viên: Trần Huy, Duy Huy</a:t>
            </a:r>
          </a:p>
          <a:p xmlns:a="http://schemas.openxmlformats.org/drawingml/2006/main">
            <a:pPr>
              <a:defRPr sz="1350" b="0">
                <a:solidFill>
                  <a:srgbClr val="E5EFF4"/>
                </a:solidFill>
              </a:defRPr>
            </a:pPr>
            <a:r>
              <a:rPr sz="1350" b="0">
                <a:solidFill>
                  <a:srgbClr val="E5EFF4"/>
                </a:solidFill>
              </a:rPr>
              <a:t>Giảng viên: [bổ sung]</a:t>
            </a:r>
          </a:p>
          <a:p xmlns:a="http://schemas.openxmlformats.org/drawingml/2006/main">
            <a:pPr>
              <a:defRPr sz="1350" b="0">
                <a:solidFill>
                  <a:srgbClr val="E5EFF4"/>
                </a:solidFill>
              </a:defRPr>
            </a:pPr>
            <a:r>
              <a:rPr sz="1350" b="0">
                <a:solidFill>
                  <a:srgbClr val="E5EFF4"/>
                </a:solidFill>
              </a:rPr>
              <a:t>Ngày báo cáo: [bổ sung]</a:t>
            </a:r>
          </a:p>
        </p:txBody>
      </p:sp>
    </p:spTree>
    <p:extLst>
      <p:ext uri="{BB962C8B-B14F-4D97-AF65-F5344CB8AC3E}">
        <p14:creationId xmlns:p14="http://schemas.microsoft.com/office/powerpoint/2010/main" val="13369457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C7BCCF-3C39-476A-81A7-DF622918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5CF93F-EADC-4838-A811-92AB4DF3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Bài toán và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081FD-237A-4B7F-915B-B34903F3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Dự đoán nguy cơ default trong tháng kế tiếp từ dữ liệu lịch sử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762E9-7B89-4974-8190-8DE73E63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Đầu vào: hạn mức, PAY_*, số dư hóa đơn và khoản thanh toán 6 tháng.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0FDBB-6CD0-4BE2-8DDF-7C702DF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Đầu ra: xác suất default và cảnh báo theo ngưỡng đã chốt.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8017A-9AA2-49BD-A0BE-5138352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Phạm vi: học tập và hỗ trợ nhắc thanh toán.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A9312-3927-4686-B3AC-BF1205D5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771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2D638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D638D"/>
                </a:solidFill>
              </a:defRPr>
            </a:pPr>
            <a:r>
              <a:rPr sz="1575" b="1">
                <a:solidFill>
                  <a:srgbClr val="2D638D"/>
                </a:solidFill>
              </a:rPr>
              <a:t>Không dùng mô hình để tự động quyết định cấp tín dụng.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B8C49-6FFD-49EC-A2AB-4F223676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2/11</a:t>
            </a:r>
          </a:p>
        </p:txBody>
      </p:sp>
    </p:spTree>
    <p:extLst>
      <p:ext uri="{BB962C8B-B14F-4D97-AF65-F5344CB8AC3E}">
        <p14:creationId xmlns:p14="http://schemas.microsoft.com/office/powerpoint/2010/main" val="24290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B261F-A095-486D-AC93-D7DDE3B6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88CDB-6451-4754-8E2F-AA0332D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Dữ liệu UCI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E915D-CEDD-4E49-A1A8-5210078C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Default of Credit Card Clients: 30.000 khách hàng, 25 cột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C3ACE-C4BF-4F2D-AC43-C47AB79A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Target: default_payment_next_month.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7BD61-384A-4556-9C9C-4FAFB453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23 đặc trưng: 14 biến số liên tục và 9 biến phân loại.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79AE3-406E-4ED2-B0BD-0FDFD57D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99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ID chỉ phục vụ quản lý bản ghi, không đưa vào mô hình.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5629F-BA5E-4E65-A7C9-103F028FF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43a246c664f23"/>
          <a:stretch xmlns:a="http://schemas.openxmlformats.org/drawingml/2006/main"/>
        </p:blipFill>
        <p:spPr>
          <a:xfrm xmlns:a="http://schemas.openxmlformats.org/drawingml/2006/main">
            <a:off x="6477000" y="1649016"/>
            <a:ext cx="4429125" cy="332184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3C757-7A19-46BB-A398-B0F3B562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720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170"/>
                </a:solidFill>
              </a:defRPr>
            </a:pPr>
            <a:r>
              <a:rPr sz="975" b="0">
                <a:solidFill>
                  <a:srgbClr val="526170"/>
                </a:solidFill>
              </a:rPr>
              <a:t>Hình: phân bố target chỉ trên 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D8083-AB2D-4256-B10B-3B10DE1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3/11</a:t>
            </a:r>
          </a:p>
        </p:txBody>
      </p:sp>
    </p:spTree>
    <p:extLst>
      <p:ext uri="{BB962C8B-B14F-4D97-AF65-F5344CB8AC3E}">
        <p14:creationId xmlns:p14="http://schemas.microsoft.com/office/powerpoint/2010/main" val="20245848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05304-0BA8-4BDA-ABD6-E2FB9CF7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03E75-82A1-4F7A-B9FE-8EEB426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Quy trình và chống rò rỉ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1FED0E-DCE5-478B-8423-55A2D2E5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Train/validation/test giữ vai trò tách biệt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B9534-6E04-4F23-A2B6-6B09A3BE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Chia stratify 60/20/20 với random_state = 42.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49B74-E1E1-4A7D-A951-45D326CC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EDA chỉ thực hiện trên train.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3D7D9-2C5E-4987-BDE4-C5187458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Imputation, scaling và one-hot nằm trong Pipeline.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04CC7B-1C4F-4638-A6CE-873E81DA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7212B"/>
                </a:solidFill>
              </a:defRPr>
            </a:pPr>
            <a:r>
              <a:rPr sz="1425" b="0">
                <a:solidFill>
                  <a:srgbClr val="17212B"/>
                </a:solidFill>
              </a:rPr>
              <a:t>Validation chọn C và ngưỡng; test chỉ đánh giá cuối cùng.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9B2E6-9E37-45E7-AE98-F8058E48CB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82c8f10c34ba8"/>
          <a:stretch xmlns:a="http://schemas.openxmlformats.org/drawingml/2006/main"/>
        </p:blipFill>
        <p:spPr>
          <a:xfrm xmlns:a="http://schemas.openxmlformats.org/drawingml/2006/main">
            <a:off x="6326717" y="1466850"/>
            <a:ext cx="4586817" cy="37528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8E56D-9CED-4B4E-B120-F6ADF2D6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14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170"/>
                </a:solidFill>
              </a:defRPr>
            </a:pPr>
            <a:r>
              <a:rPr sz="975" b="0">
                <a:solidFill>
                  <a:srgbClr val="526170"/>
                </a:solidFill>
              </a:rPr>
              <a:t>Hình: tương quan biến liên tục trên 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545EB-B61D-4F25-A872-F0D2EBA0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4/11</a:t>
            </a:r>
          </a:p>
        </p:txBody>
      </p:sp>
    </p:spTree>
    <p:extLst>
      <p:ext uri="{BB962C8B-B14F-4D97-AF65-F5344CB8AC3E}">
        <p14:creationId xmlns:p14="http://schemas.microsoft.com/office/powerpoint/2010/main" val="1391208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26171-3128-433F-B934-FFD77A77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AACD6-E97E-4D9C-932C-A12BFEC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Baseline và mô hình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58FF6-916D-49A9-AEC7-DB4D27F1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So sánh công bằng bằng Stratified Cross-Validation trên train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3DC98-BEA5-45E9-966F-D0BD27D3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Baseline: luôn dự đoán không-default.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ACB0E-4467-49A1-AAD0-B496FD9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Ứng viên: Logistic Regression không trọng số và class_weight = balanced.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3F47-FCF0-46BD-BC32-C087CCD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 = 1,0 được chọn bằng CV; Pipeline fit riêng trong từng fold.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EE566-CB5A-4144-BFFB-063787D5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Chọn bản không trọng số dựa trên chi phí validation và Brier score.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3A519-3172-4D0F-8892-4FFEE726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D638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D638D"/>
                </a:solidFill>
              </a:defRPr>
            </a:pPr>
            <a:r>
              <a:rPr sz="1425" b="1">
                <a:solidFill>
                  <a:srgbClr val="2D638D"/>
                </a:solidFill>
              </a:rPr>
              <a:t>Không xem chênh lệch AP rất nhỏ là bằng chứng hơn hẳn.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61C9C-0133-4D6D-A5F7-15AAB7B8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5/11</a:t>
            </a:r>
          </a:p>
        </p:txBody>
      </p:sp>
    </p:spTree>
    <p:extLst>
      <p:ext uri="{BB962C8B-B14F-4D97-AF65-F5344CB8AC3E}">
        <p14:creationId xmlns:p14="http://schemas.microsoft.com/office/powerpoint/2010/main" val="160262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15875-3E69-414B-992C-100B2307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BA40D-094B-4A89-9A16-C24B5DAE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Bốn thí nghiệm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D4B90-600E-42F6-8216-C0E7436C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Các chỉ số được xem cùng nhau thay vì chỉ dựa vào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3F98E-652C-4F6D-8E36-67FB40AE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Accuracy, Average Precision và recall lớp default.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3FCE3-8AE5-4C55-9C98-CEF28C29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Calibration: reliability diagram và Brier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616FC-9869-4AA2-B457-00858E0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Ngưỡng 0,500, 0,1667 và ngưỡng tối ưu trên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D97D4-D2E8-4F1B-8B96-E07CB244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Audit theo SEX, EDUCATION và MARRIAGE.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F34C0-8A21-49C2-B8AD-94E904C8C1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3d7a0965842c9"/>
          <a:stretch xmlns:a="http://schemas.openxmlformats.org/drawingml/2006/main"/>
        </p:blipFill>
        <p:spPr>
          <a:xfrm xmlns:a="http://schemas.openxmlformats.org/drawingml/2006/main">
            <a:off x="6798469" y="1647825"/>
            <a:ext cx="3500438" cy="3000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A9F2F-C422-4292-9CF3-65CDF27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01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26170"/>
                </a:solidFill>
              </a:defRPr>
            </a:pPr>
            <a:r>
              <a:rPr sz="975" b="0">
                <a:solidFill>
                  <a:srgbClr val="526170"/>
                </a:solidFill>
              </a:rPr>
              <a:t>Hình: calibration trên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6B397-3862-42E6-80BE-FE1FEC41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6/11</a:t>
            </a:r>
          </a:p>
        </p:txBody>
      </p:sp>
    </p:spTree>
    <p:extLst>
      <p:ext uri="{BB962C8B-B14F-4D97-AF65-F5344CB8AC3E}">
        <p14:creationId xmlns:p14="http://schemas.microsoft.com/office/powerpoint/2010/main" val="1493628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D4485-8936-49D9-8CAD-0250865F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0A85F-4277-4F7E-976F-C6C8341C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Ngưỡng quyết định theo chi phí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CFE4B-1CAC-4B5C-AA27-D60CE8F0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Ma trận chi phí giả định: FP = 1, FN = 5, TP = TN = 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A99E3-B733-4E6F-98D7-60BA9E3F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Ngưỡng lý thuyết theo chi phí: 0,1667.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2C831-E0F4-4A30-BEC7-5633555B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Ngưỡng chọn trên validation: 0,150.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002BA-48D8-4715-8D1F-F89D29F8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Chi phí validation: 3.405, tương đương 0,5675 mỗi khách hàng.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DE951-90A1-45D5-B5F3-24A89C10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Ngưỡng thấp tăng recall và tăng số cảnh báo nhầm.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1F512-EADE-4E51-AED8-44186BA2CA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874049059414f"/>
          <a:stretch xmlns:a="http://schemas.openxmlformats.org/drawingml/2006/main"/>
        </p:blipFill>
        <p:spPr>
          <a:xfrm xmlns:a="http://schemas.openxmlformats.org/drawingml/2006/main">
            <a:off x="6667500" y="1905000"/>
            <a:ext cx="38100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3D359-8B9B-4BE0-B006-51D1091F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7/11</a:t>
            </a:r>
          </a:p>
        </p:txBody>
      </p:sp>
    </p:spTree>
    <p:extLst>
      <p:ext uri="{BB962C8B-B14F-4D97-AF65-F5344CB8AC3E}">
        <p14:creationId xmlns:p14="http://schemas.microsoft.com/office/powerpoint/2010/main" val="2087096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18652-32D8-4155-9F3A-39733D8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8A5EA-D0A1-4440-9A7A-1FAD7A0C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Kết quả test sau khi đóng băng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B7762-CCCD-41A9-8585-A662D69D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Test được đánh giá một lần sau khi khóa pipeline, C, calibration và threshold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34EAD-93C3-4DB2-99F0-4F863727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4305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Accuracy 64,52% | Precision 35,42% | Recall 73,40% | F1 47,78%.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A91C2-4C31-4336-807E-13D8A2B2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Average Precision 52,54% | ROC-AUC 75,91% | Brier 0,1388.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64CF0-7F8B-4C22-95A4-E7D32CA8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TN 2.897 | FP 1.776 | FN 353 | TP 974.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297B9-C30D-420D-A690-3C50FFC9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561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Chi phí giả định: 3.541, tương đương 0,5902 mỗi khách hàng.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C9E183-BE9D-4358-A4AE-80414084F1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59056e7d542b5"/>
          <a:stretch xmlns:a="http://schemas.openxmlformats.org/drawingml/2006/main"/>
        </p:blipFill>
        <p:spPr>
          <a:xfrm xmlns:a="http://schemas.openxmlformats.org/drawingml/2006/main">
            <a:off x="6667500" y="1875234"/>
            <a:ext cx="3952875" cy="296465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8F1EA-357B-4141-A83A-9B0D7EB2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8/11</a:t>
            </a:r>
          </a:p>
        </p:txBody>
      </p:sp>
    </p:spTree>
    <p:extLst>
      <p:ext uri="{BB962C8B-B14F-4D97-AF65-F5344CB8AC3E}">
        <p14:creationId xmlns:p14="http://schemas.microsoft.com/office/powerpoint/2010/main" val="13543370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6EEB4-2869-4B6A-93CE-CD9A17B8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EA813-A605-48DC-A538-80B8397B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Khả năng xếp hạng và audit theo nhóm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8FD3F-8CDF-448C-85F7-4609239C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Audit mang tính mô tả, không chứng minh mô hình công bằng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795E6-E0B6-45B0-9B2B-B62A42F5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SEX=1: recall 78,61%; SEX=2: recall 69,58%.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46634-AC90-4D29-A37C-1C8D298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Các nhóm EDUCATION 0, 4, 5, 6 và MARRIAGE 0, 3 có ít mẫu.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3FAC1-A628-49E0-BF11-E2BA48C9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7212B"/>
                </a:solidFill>
              </a:defRPr>
            </a:pPr>
            <a:r>
              <a:rPr sz="1500" b="0">
                <a:solidFill>
                  <a:srgbClr val="17212B"/>
                </a:solidFill>
              </a:rPr>
              <a:t>Giữ mã chưa rõ nghĩa thành nhóm riêng khi báo cáo.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FDA92-A293-44BD-89B1-CD67054BED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da34ee78648dc"/>
          <a:stretch xmlns:a="http://schemas.openxmlformats.org/drawingml/2006/main"/>
        </p:blipFill>
        <p:spPr>
          <a:xfrm xmlns:a="http://schemas.openxmlformats.org/drawingml/2006/main">
            <a:off x="6191250" y="2271840"/>
            <a:ext cx="5000625" cy="198094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33AEF-403F-4424-B506-F542EEB7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9/11</a:t>
            </a:r>
          </a:p>
        </p:txBody>
      </p:sp>
    </p:spTree>
    <p:extLst>
      <p:ext uri="{BB962C8B-B14F-4D97-AF65-F5344CB8AC3E}">
        <p14:creationId xmlns:p14="http://schemas.microsoft.com/office/powerpoint/2010/main" val="19975666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AEE7A-FC89-437D-BF9B-0DB76884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CAF97-45E5-4B6B-AF4C-7EED3D32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Sản phẩm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3DF95-C7EA-4710-AEEE-2935CA2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FastAPI phục vụ pipeline đã đóng băng; ứng dụng không huấn luyện theo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4C9E5-2034-45FE-A487-8B537F4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POST /api/risk-score nhận đúng 23 đặc trưng.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07D99-09F8-409F-A9A6-67462843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API từ chối ID, target, dữ liệu thiếu, sai kiểu hoặc không hữu hạn.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E777CA-8936-4F4F-AE41-76DA1A8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Kết quả gồm xác suất default, ngưỡng 0,150 và cảnh báo.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A9881-C5B4-4DAA-BFC5-7F54B0BF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4332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Web có ba màn hình: Giới thiệu, Mô phỏng, Dashboard/model card.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2F5B1-8E46-47DD-9DC0-7FA39A44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2D638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D638D"/>
                </a:solidFill>
              </a:defRPr>
            </a:pPr>
            <a:r>
              <a:rPr sz="1425" b="1">
                <a:solidFill>
                  <a:srgbClr val="2D638D"/>
                </a:solidFill>
              </a:rPr>
              <a:t>Thanh trượt dashboard chỉ minh họa trade-off trên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6CC16-3BB8-4AF3-B3E7-4BE262A2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10/11</a:t>
            </a:r>
          </a:p>
        </p:txBody>
      </p:sp>
    </p:spTree>
    <p:extLst>
      <p:ext uri="{BB962C8B-B14F-4D97-AF65-F5344CB8AC3E}">
        <p14:creationId xmlns:p14="http://schemas.microsoft.com/office/powerpoint/2010/main" val="2285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C152D-15B8-40BF-A99D-78FC5189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solidFill>
              <a:srgbClr val="183B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0F0DD-8D21-493F-8306-52B9907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3B5B"/>
                </a:solidFill>
              </a:defRPr>
            </a:pPr>
            <a:r>
              <a:rPr sz="2400" b="1">
                <a:solidFill>
                  <a:srgbClr val="183B5B"/>
                </a:solidFill>
              </a:rPr>
              <a:t>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C282E-3231-4C71-85F9-EED23C33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170"/>
                </a:solidFill>
              </a:defRPr>
            </a:pPr>
            <a:r>
              <a:rPr sz="1275" b="0">
                <a:solidFill>
                  <a:srgbClr val="526170"/>
                </a:solidFill>
              </a:rPr>
              <a:t>Pipeline tái lập được từ dữ liệu thô đến đánh giá và ứng dụng web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8716B-FCCA-4142-B02B-86BEF2D6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Nhóm giữ test độc lập và chọn ngưỡng bằng validation theo chi phí giả định.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5DE93-DF89-4B10-8986-FD164B8A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Mô hình ưu tiên phát hiện default, chấp nhận đánh đổi bằng cảnh báo nhầm.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77951-D42B-4DA5-BA2D-3D38F4FE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Hạn chế: dữ liệu lịch sử một nguồn; ngưỡng chi phí cần nghiệp vụ xác nhận.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70D6E-12A8-4B8A-B4E1-72A21D4B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985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12B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Hướng tiếp theo: kiểm tra trên dữ liệu mới, theo dõi drift và đánh giá định kỳ.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6A977-E121-4154-9A01-2E09D040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83B5B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B5B"/>
                </a:solidFill>
              </a:defRPr>
            </a:pPr>
            <a:r>
              <a:rPr sz="1950" b="1">
                <a:solidFill>
                  <a:srgbClr val="183B5B"/>
                </a:solidFill>
              </a:rPr>
              <a:t>Cảm ơn thầy/cô và các bạn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3AF57-B330-4D23-B0FE-4019ACE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4389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26170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26170"/>
                </a:solidFill>
              </a:defRPr>
            </a:pPr>
            <a:r>
              <a:rPr sz="825" b="0">
                <a:solidFill>
                  <a:srgbClr val="526170"/>
                </a:solidFill>
              </a:rPr>
              <a:t>Project 08 | 11/11</a:t>
            </a:r>
          </a:p>
        </p:txBody>
      </p:sp>
    </p:spTree>
    <p:extLst>
      <p:ext uri="{BB962C8B-B14F-4D97-AF65-F5344CB8AC3E}">
        <p14:creationId xmlns:p14="http://schemas.microsoft.com/office/powerpoint/2010/main" val="18373852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2026-10-11T15:26:35.0160000Z</dcterms:created>
  <dcterms:modified xsi:type="dcterms:W3CDTF">2026-10-11T15:26:35.0170000Z</dcterms:modified>
</coreProperties>
</file>