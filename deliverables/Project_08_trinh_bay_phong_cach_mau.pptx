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a7b10c8e444cc6" /><Relationship Type="http://schemas.openxmlformats.org/officeDocument/2006/relationships/extended-properties" Target="/docProps/app.xml" Id="R428c125cbbf04bb9" /><Relationship Type="http://schemas.openxmlformats.org/officeDocument/2006/relationships/officeDocument" Target="/ppt/presentation.xml" Id="R090ed6ba922d44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4de82deebb428b"/>
  </p:sldMasterIdLst>
  <p:notesMasterIdLst>
    <p:notesMasterId xmlns:r="http://schemas.openxmlformats.org/officeDocument/2006/relationships" r:id="Rf30c1ab456a3482e"/>
  </p:notesMasterIdLst>
  <p:sldIdLst>
    <p:sldId xmlns:r="http://schemas.openxmlformats.org/officeDocument/2006/relationships" id="256" r:id="Re4f282295e3a4d78"/>
    <p:sldId xmlns:r="http://schemas.openxmlformats.org/officeDocument/2006/relationships" id="257" r:id="Rfd1b6bcf6ff347cb"/>
    <p:sldId xmlns:r="http://schemas.openxmlformats.org/officeDocument/2006/relationships" id="258" r:id="R59c4129355774c7b"/>
    <p:sldId xmlns:r="http://schemas.openxmlformats.org/officeDocument/2006/relationships" id="259" r:id="R870c6cc0c00a4d49"/>
    <p:sldId xmlns:r="http://schemas.openxmlformats.org/officeDocument/2006/relationships" id="260" r:id="R99aad97b081542e7"/>
    <p:sldId xmlns:r="http://schemas.openxmlformats.org/officeDocument/2006/relationships" id="261" r:id="Rbf575b7d10934d40"/>
    <p:sldId xmlns:r="http://schemas.openxmlformats.org/officeDocument/2006/relationships" id="262" r:id="R760d7052f6004228"/>
    <p:sldId xmlns:r="http://schemas.openxmlformats.org/officeDocument/2006/relationships" id="263" r:id="R2b07d573634b444f"/>
    <p:sldId xmlns:r="http://schemas.openxmlformats.org/officeDocument/2006/relationships" id="264" r:id="Rcc3566c801fd41ca"/>
    <p:sldId xmlns:r="http://schemas.openxmlformats.org/officeDocument/2006/relationships" id="265" r:id="R338d3500515d4c48"/>
    <p:sldId xmlns:r="http://schemas.openxmlformats.org/officeDocument/2006/relationships" id="266" r:id="Rd7f90697ca4848db"/>
    <p:sldId xmlns:r="http://schemas.openxmlformats.org/officeDocument/2006/relationships" id="267" r:id="R7923e0eecc294c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2cbb201dd24a1c" /><Relationship Type="http://schemas.openxmlformats.org/officeDocument/2006/relationships/slideMaster" Target="/ppt/slideMasters/slideMaster1.xml" Id="R194de82deebb428b" /><Relationship Type="http://schemas.openxmlformats.org/officeDocument/2006/relationships/notesMaster" Target="/ppt/notesMasters/notesMaster1.xml" Id="Rf30c1ab456a3482e" /><Relationship Type="http://schemas.openxmlformats.org/officeDocument/2006/relationships/presProps" Target="/ppt/presProps.xml" Id="Rbc18a626ab20487e" /><Relationship Type="http://schemas.openxmlformats.org/officeDocument/2006/relationships/tableStyles" Target="/ppt/tableStyles.xml" Id="R45bb722e4fbb438a" /><Relationship Type="http://schemas.openxmlformats.org/officeDocument/2006/relationships/slide" Target="/ppt/slides/slide1.xml" Id="Re4f282295e3a4d78" /><Relationship Type="http://schemas.openxmlformats.org/officeDocument/2006/relationships/slide" Target="/ppt/slides/slide2.xml" Id="Rfd1b6bcf6ff347cb" /><Relationship Type="http://schemas.openxmlformats.org/officeDocument/2006/relationships/slide" Target="/ppt/slides/slide3.xml" Id="R59c4129355774c7b" /><Relationship Type="http://schemas.openxmlformats.org/officeDocument/2006/relationships/slide" Target="/ppt/slides/slide4.xml" Id="R870c6cc0c00a4d49" /><Relationship Type="http://schemas.openxmlformats.org/officeDocument/2006/relationships/slide" Target="/ppt/slides/slide5.xml" Id="R99aad97b081542e7" /><Relationship Type="http://schemas.openxmlformats.org/officeDocument/2006/relationships/slide" Target="/ppt/slides/slide6.xml" Id="Rbf575b7d10934d40" /><Relationship Type="http://schemas.openxmlformats.org/officeDocument/2006/relationships/slide" Target="/ppt/slides/slide7.xml" Id="R760d7052f6004228" /><Relationship Type="http://schemas.openxmlformats.org/officeDocument/2006/relationships/slide" Target="/ppt/slides/slide8.xml" Id="R2b07d573634b444f" /><Relationship Type="http://schemas.openxmlformats.org/officeDocument/2006/relationships/slide" Target="/ppt/slides/slide9.xml" Id="Rcc3566c801fd41ca" /><Relationship Type="http://schemas.openxmlformats.org/officeDocument/2006/relationships/slide" Target="/ppt/slides/slide10.xml" Id="R338d3500515d4c48" /><Relationship Type="http://schemas.openxmlformats.org/officeDocument/2006/relationships/slide" Target="/ppt/slides/slide11.xml" Id="Rd7f90697ca4848db" /><Relationship Type="http://schemas.openxmlformats.org/officeDocument/2006/relationships/slide" Target="/ppt/slides/slide12.xml" Id="R7923e0eecc294c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0415f04f8849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e3131ca7514e8c" /><Relationship Type="http://schemas.openxmlformats.org/officeDocument/2006/relationships/notesMaster" Target="/ppt/notesMasters/notesMaster1.xml" Id="R58383515746e46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b9e855e9b54700" /><Relationship Type="http://schemas.openxmlformats.org/officeDocument/2006/relationships/notesMaster" Target="/ppt/notesMasters/notesMaster1.xml" Id="Rdae8ec46f04e4b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18ee1aa41a4cc1" /><Relationship Type="http://schemas.openxmlformats.org/officeDocument/2006/relationships/notesMaster" Target="/ppt/notesMasters/notesMaster1.xml" Id="R994b2e03051e45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be109f839d4360" /><Relationship Type="http://schemas.openxmlformats.org/officeDocument/2006/relationships/notesMaster" Target="/ppt/notesMasters/notesMaster1.xml" Id="Rcd56b22fb63f42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959e01240d48c2" /><Relationship Type="http://schemas.openxmlformats.org/officeDocument/2006/relationships/notesMaster" Target="/ppt/notesMasters/notesMaster1.xml" Id="Rde66032d21d141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8bcf1065b44793" /><Relationship Type="http://schemas.openxmlformats.org/officeDocument/2006/relationships/notesMaster" Target="/ppt/notesMasters/notesMaster1.xml" Id="R2332175b353845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f72975ff3f4a23" /><Relationship Type="http://schemas.openxmlformats.org/officeDocument/2006/relationships/notesMaster" Target="/ppt/notesMasters/notesMaster1.xml" Id="R51c53a52882045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8c220e84284c3d" /><Relationship Type="http://schemas.openxmlformats.org/officeDocument/2006/relationships/notesMaster" Target="/ppt/notesMasters/notesMaster1.xml" Id="R3e1a16906e0544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ed924284e74ef2" /><Relationship Type="http://schemas.openxmlformats.org/officeDocument/2006/relationships/notesMaster" Target="/ppt/notesMasters/notesMaster1.xml" Id="R09d05392527b46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19df6cb3144561" /><Relationship Type="http://schemas.openxmlformats.org/officeDocument/2006/relationships/notesMaster" Target="/ppt/notesMasters/notesMaster1.xml" Id="Rff8fb85a11b846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b0e92bed7b41ea" /><Relationship Type="http://schemas.openxmlformats.org/officeDocument/2006/relationships/notesMaster" Target="/ppt/notesMasters/notesMaster1.xml" Id="R554d9557b5944e3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33e25db9c0432b" /><Relationship Type="http://schemas.openxmlformats.org/officeDocument/2006/relationships/notesMaster" Target="/ppt/notesMasters/notesMaster1.xml" Id="Rdb81d6bbf2f142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1b230514e04d4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96948b5a294c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e335f580214e1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c85db02755404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7da8a501b9475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a2ecee6c3549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FE180B-FD32-4459-8D83-0E8CFAC36C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4F9A833-BE94-4D88-A746-32B9BF6809B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7638822-3DD0-4ED2-BD87-B739D471ED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4BDD68-41ED-4972-8C4F-24AE30041B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D033B02-FD78-4D35-B504-D9AD61C556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25BEB7A-B4C9-43CA-AC2B-85BDEC5BB3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BA030A-F4CA-4E77-A808-49D7D3C3B1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71C3017-CECD-4AA1-978D-FD173CA663F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2880F5-7176-4EB1-88A8-C8E010ED63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63F5533-565E-4968-9156-BC92206587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ceefeeef464402" /><Relationship Type="http://schemas.openxmlformats.org/officeDocument/2006/relationships/slideLayout" Target="/ppt/slideLayouts/slideLayout1.xml" Id="Rb5d1dc515055430f" /><Relationship Type="http://schemas.openxmlformats.org/officeDocument/2006/relationships/slideLayout" Target="/ppt/slideLayouts/slideLayout2.xml" Id="Rf78c72d5e78a4a9e" /><Relationship Type="http://schemas.openxmlformats.org/officeDocument/2006/relationships/slideLayout" Target="/ppt/slideLayouts/slideLayout3.xml" Id="R4a31cbc785e34bbf" /><Relationship Type="http://schemas.openxmlformats.org/officeDocument/2006/relationships/slideLayout" Target="/ppt/slideLayouts/slideLayout4.xml" Id="R3d6f7e3432b945e1" /><Relationship Type="http://schemas.openxmlformats.org/officeDocument/2006/relationships/slideLayout" Target="/ppt/slideLayouts/slideLayout5.xml" Id="Rfef9f747e9c2400f" /><Relationship Type="http://schemas.openxmlformats.org/officeDocument/2006/relationships/slideLayout" Target="/ppt/slideLayouts/slideLayout6.xml" Id="R7c0b7c09db9241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d1dc515055430f"/>
    <p:sldLayoutId xmlns:r="http://schemas.openxmlformats.org/officeDocument/2006/relationships" id="2147483650" r:id="Rf78c72d5e78a4a9e"/>
    <p:sldLayoutId xmlns:r="http://schemas.openxmlformats.org/officeDocument/2006/relationships" id="2147483651" r:id="R4a31cbc785e34bbf"/>
    <p:sldLayoutId xmlns:r="http://schemas.openxmlformats.org/officeDocument/2006/relationships" id="2147483652" r:id="R3d6f7e3432b945e1"/>
    <p:sldLayoutId xmlns:r="http://schemas.openxmlformats.org/officeDocument/2006/relationships" id="2147483653" r:id="Rfef9f747e9c2400f"/>
    <p:sldLayoutId xmlns:r="http://schemas.openxmlformats.org/officeDocument/2006/relationships" id="2147483654" r:id="R7c0b7c09db9241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2661a04fc84d85" /><Relationship Type="http://schemas.openxmlformats.org/officeDocument/2006/relationships/notesSlide" Target="/ppt/notesSlides/notesSlide1.xml" Id="Rd2b0b3f6e9ad4e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ecd2f7b7174591" /><Relationship Type="http://schemas.openxmlformats.org/officeDocument/2006/relationships/notesSlide" Target="/ppt/notesSlides/notesSlide2.xml" Id="R90cc505c1fe047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b106ac3f39420d" /><Relationship Type="http://schemas.openxmlformats.org/officeDocument/2006/relationships/image" Target="/ppt/media/image.png" Id="Rd69611cc58e846c8" /><Relationship Type="http://schemas.openxmlformats.org/officeDocument/2006/relationships/notesSlide" Target="/ppt/notesSlides/notesSlide3.xml" Id="Rd9bf17f245ef40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b1ec6593794b1c" /><Relationship Type="http://schemas.openxmlformats.org/officeDocument/2006/relationships/notesSlide" Target="/ppt/notesSlides/notesSlide4.xml" Id="R356cde3cfc1646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eb20038954436d" /><Relationship Type="http://schemas.openxmlformats.org/officeDocument/2006/relationships/notesSlide" Target="/ppt/notesSlides/notesSlide5.xml" Id="R66a30be302f240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a7e8cebf934171" /><Relationship Type="http://schemas.openxmlformats.org/officeDocument/2006/relationships/image" Target="/ppt/media/image2.png" Id="R53d8cf1f51f8496c" /><Relationship Type="http://schemas.openxmlformats.org/officeDocument/2006/relationships/notesSlide" Target="/ppt/notesSlides/notesSlide6.xml" Id="R6c6b175a763f4a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cc2e2ec0ef4896" /><Relationship Type="http://schemas.openxmlformats.org/officeDocument/2006/relationships/image" Target="/ppt/media/image3.png" Id="Rf830a8df2b1a48aa" /><Relationship Type="http://schemas.openxmlformats.org/officeDocument/2006/relationships/notesSlide" Target="/ppt/notesSlides/notesSlide7.xml" Id="Rc4ab0760f90c4f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84625cda2a461c" /><Relationship Type="http://schemas.openxmlformats.org/officeDocument/2006/relationships/image" Target="/ppt/media/image4.png" Id="R55b9b50cf5054103" /><Relationship Type="http://schemas.openxmlformats.org/officeDocument/2006/relationships/notesSlide" Target="/ppt/notesSlides/notesSlide8.xml" Id="R5fcde2ecc16643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f22696d0884c90" /><Relationship Type="http://schemas.openxmlformats.org/officeDocument/2006/relationships/image" Target="/ppt/media/image5.png" Id="Re80362ccb15f422b" /><Relationship Type="http://schemas.openxmlformats.org/officeDocument/2006/relationships/notesSlide" Target="/ppt/notesSlides/notesSlide9.xml" Id="R2e115390c7f740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9facd8ab4c48cd" /><Relationship Type="http://schemas.openxmlformats.org/officeDocument/2006/relationships/notesSlide" Target="/ppt/notesSlides/notesSlide10.xml" Id="Ra0edeb64060e43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44b63fbe744a9d" /><Relationship Type="http://schemas.openxmlformats.org/officeDocument/2006/relationships/image" Target="/ppt/media/image6.png" Id="R22d8c11bb49a44ba" /><Relationship Type="http://schemas.openxmlformats.org/officeDocument/2006/relationships/image" Target="/ppt/media/image7.png" Id="R4a2cf746bd374bfd" /><Relationship Type="http://schemas.openxmlformats.org/officeDocument/2006/relationships/image" Target="/ppt/media/image8.png" Id="R6ba88017911640cd" /><Relationship Type="http://schemas.openxmlformats.org/officeDocument/2006/relationships/notesSlide" Target="/ppt/notesSlides/notesSlide11.xml" Id="R0fd2932c44a44d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44f2cec34246ab" /><Relationship Type="http://schemas.openxmlformats.org/officeDocument/2006/relationships/notesSlide" Target="/ppt/notesSlides/notesSlide12.xml" Id="Rf34c879bc7e443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C41CB7-7412-4785-BF81-EA7A0ED3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0"/>
            <a:ext cx="384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6D429-DB34-4B6F-9B7D-6B178E39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7725"/>
            <a:ext cx="38100" cy="512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B61"/>
          </a:solidFill>
          <a:ln xmlns:a="http://schemas.openxmlformats.org/drawingml/2006/main" w="9525">
            <a:solidFill>
              <a:srgbClr val="C87B6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C001F-B719-419C-8E29-B9E3D474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716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C87B61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87B61"/>
                </a:solidFill>
              </a:defRPr>
            </a:pPr>
            <a:r>
              <a:rPr sz="1050" b="1">
                <a:solidFill>
                  <a:srgbClr val="C87B61"/>
                </a:solidFill>
              </a:rPr>
              <a:t>BÀI TẬP LỚN  •  HỌC MÁY CƠ BẢN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0D381-F631-4CB2-8B3E-F99AE724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952625"/>
            <a:ext cx="647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600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93B34"/>
                </a:solidFill>
              </a:defRPr>
            </a:pPr>
            <a:r>
              <a:rPr sz="3600" b="1">
                <a:solidFill>
                  <a:srgbClr val="293B34"/>
                </a:solidFill>
              </a:rPr>
              <a:t>Dự đoán nguy cơ</a:t>
            </a:r>
          </a:p>
          <a:p xmlns:a="http://schemas.openxmlformats.org/drawingml/2006/main">
            <a:pPr>
              <a:defRPr sz="3600" b="1">
                <a:solidFill>
                  <a:srgbClr val="293B34"/>
                </a:solidFill>
              </a:defRPr>
            </a:pPr>
            <a:r>
              <a:rPr sz="3600" b="1">
                <a:solidFill>
                  <a:srgbClr val="293B34"/>
                </a:solidFill>
              </a:rPr>
              <a:t>trễ hạn thanh toán</a:t>
            </a:r>
          </a:p>
          <a:p xmlns:a="http://schemas.openxmlformats.org/drawingml/2006/main">
            <a:pPr>
              <a:defRPr sz="3600" b="1">
                <a:solidFill>
                  <a:srgbClr val="293B34"/>
                </a:solidFill>
              </a:defRPr>
            </a:pPr>
            <a:r>
              <a:rPr sz="3600" b="1">
                <a:solidFill>
                  <a:srgbClr val="293B34"/>
                </a:solidFill>
              </a:rPr>
              <a:t>thẻ tín dụng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1640F7-B194-4EF3-886D-3986C0D6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29125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6584E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6584E"/>
                </a:solidFill>
              </a:defRPr>
            </a:pPr>
            <a:r>
              <a:rPr sz="1500" b="0">
                <a:solidFill>
                  <a:srgbClr val="46584E"/>
                </a:solidFill>
              </a:rPr>
              <a:t>Dự đoán xác suất default tháng sau từ lịch sử tín dụng của khách hàng.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C02BE1-B221-4337-86D6-62F7CCFF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93B34"/>
                </a:solidFill>
              </a:defRPr>
            </a:pPr>
            <a:r>
              <a:rPr sz="1350" b="1">
                <a:solidFill>
                  <a:srgbClr val="293B34"/>
                </a:solidFill>
              </a:rPr>
              <a:t>TRẦN HUY  •  DUY HUY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D4E5AC-835E-4105-AAF2-9E52DE86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9775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758278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58278"/>
                </a:solidFill>
              </a:defRPr>
            </a:pPr>
            <a:r>
              <a:rPr sz="1050" b="0">
                <a:solidFill>
                  <a:srgbClr val="758278"/>
                </a:solidFill>
              </a:rPr>
              <a:t>Lớp: [bổ sung]   /   GVHD: [bổ sung]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83AAF-D9C0-4C86-B0D6-ECA7D12B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762000"/>
            <a:ext cx="2667000" cy="5210175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A789DC-15EE-4345-AE09-88B22249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76300"/>
            <a:ext cx="2667000" cy="5210175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3DDD1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90D7C8-535A-4E1F-8B87-BCADD4CA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143000"/>
            <a:ext cx="20955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7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4B8D8-7552-46D3-A274-FF2FC9ED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1450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C34FD6-A15A-45CA-9751-1850EDEF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57450"/>
            <a:ext cx="1143000" cy="11430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99AB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F2B562-07D8-4B19-A6A4-09A4F479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4099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1180BF-32FE-41B8-A250-68D38EBA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07670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96909E-28C9-4BCF-9A9A-581D2CF2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8101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93B34"/>
                </a:solidFill>
              </a:defRPr>
            </a:pPr>
            <a:r>
              <a:rPr sz="1725" b="1">
                <a:solidFill>
                  <a:srgbClr val="293B34"/>
                </a:solidFill>
              </a:rPr>
              <a:t>DEFAULT</a:t>
            </a:r>
          </a:p>
          <a:p xmlns:a="http://schemas.openxmlformats.org/drawingml/2006/main">
            <a:pPr>
              <a:defRPr sz="1725" b="1">
                <a:solidFill>
                  <a:srgbClr val="293B34"/>
                </a:solidFill>
              </a:defRPr>
            </a:pPr>
            <a:r>
              <a:rPr sz="1725" b="1">
                <a:solidFill>
                  <a:srgbClr val="293B34"/>
                </a:solidFill>
              </a:rPr>
              <a:t>RISK SCORE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7FCC8D-DBBF-425E-ACBA-A57C2EAB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676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7B61"/>
          </a:solidFill>
          <a:ln xmlns:a="http://schemas.openxmlformats.org/drawingml/2006/main" w="9525">
            <a:solidFill>
              <a:srgbClr val="C87B6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5F948D-ED2F-49AF-A9B0-990A23F8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676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7B61"/>
          </a:solidFill>
          <a:ln xmlns:a="http://schemas.openxmlformats.org/drawingml/2006/main" w="9525">
            <a:solidFill>
              <a:srgbClr val="C87B6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978FD7-5329-4BF7-98AF-407A9BF9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676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7B61"/>
          </a:solidFill>
          <a:ln xmlns:a="http://schemas.openxmlformats.org/drawingml/2006/main" w="9525">
            <a:solidFill>
              <a:srgbClr val="C87B6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377C8F-0466-4A9A-A61C-718DAABD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5676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7B61"/>
          </a:solidFill>
          <a:ln xmlns:a="http://schemas.openxmlformats.org/drawingml/2006/main" w="9525">
            <a:solidFill>
              <a:srgbClr val="C87B6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9E9E48-2FBF-4B34-90CA-29870A14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676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7B61"/>
          </a:solidFill>
          <a:ln xmlns:a="http://schemas.openxmlformats.org/drawingml/2006/main" w="9525">
            <a:solidFill>
              <a:srgbClr val="C87B6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E76485-6AD7-4171-B4F3-94A29122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2960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758278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58278"/>
                </a:solidFill>
              </a:defRPr>
            </a:pPr>
            <a:r>
              <a:rPr sz="900" b="1">
                <a:solidFill>
                  <a:srgbClr val="758278"/>
                </a:solidFill>
              </a:rPr>
              <a:t>HƯNG YÊN  •  2026</a:t>
            </a:r>
          </a:p>
        </p:txBody>
      </p:sp>
    </p:spTree>
    <p:extLst>
      <p:ext uri="{BB962C8B-B14F-4D97-AF65-F5344CB8AC3E}">
        <p14:creationId xmlns:p14="http://schemas.microsoft.com/office/powerpoint/2010/main" val="73193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E33EE5-AE9E-4E97-BE4A-853ADBA8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C87B61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87B61"/>
                </a:solidFill>
              </a:defRPr>
            </a:pPr>
            <a:r>
              <a:rPr sz="1050" b="1">
                <a:solidFill>
                  <a:srgbClr val="C87B61"/>
                </a:solidFill>
              </a:rPr>
              <a:t>02   /   BỐI CẢNH &amp; MỤC TIÊU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41F86-3771-4B97-818A-98B51734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293B34"/>
                </a:solidFill>
              </a:defRPr>
            </a:pPr>
            <a:r>
              <a:rPr sz="2925" b="1">
                <a:solidFill>
                  <a:srgbClr val="293B34"/>
                </a:solidFill>
              </a:rPr>
              <a:t>Khách hàng nào có nguy cơ trễ hạn?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F6810-D3D6-4832-A26D-5D1DF54E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716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758278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58278"/>
                </a:solidFill>
              </a:defRPr>
            </a:pPr>
            <a:r>
              <a:rPr sz="1200" b="0">
                <a:solidFill>
                  <a:srgbClr val="758278"/>
                </a:solidFill>
              </a:rPr>
              <a:t>Hệ thống hỗ trợ nhắc thanh toán sớm bằng xác suất default.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4EE98-7CBF-4920-9B03-23A77113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CDB6F-0D9A-4955-8CCC-9A4E89FB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7D2E0D-F837-4439-92B2-9154B48F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0604C-D7F9-42D4-BF32-0F26F60A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E9836-18FD-4F47-87FF-C2E971BB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4865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3"/>
          </a:solidFill>
          <a:ln xmlns:a="http://schemas.openxmlformats.org/drawingml/2006/main" w="9525">
            <a:solidFill>
              <a:srgbClr val="D7DE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66A938-85F2-48CB-88C6-EF8BE77F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98A198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98A198"/>
                </a:solidFill>
              </a:defRPr>
            </a:pPr>
            <a:r>
              <a:rPr sz="825" b="1">
                <a:solidFill>
                  <a:srgbClr val="98A198"/>
                </a:solidFill>
              </a:rPr>
              <a:t>DỰ ĐOÁN RỦI RO THẺ TÍN DỤNG  •  HỌC MÁY CƠ BẢN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EE98C6-97F8-4080-9EEE-4A35AD74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738F7D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38F7D"/>
                </a:solidFill>
              </a:defRPr>
            </a:pPr>
            <a:r>
              <a:rPr sz="900" b="1">
                <a:solidFill>
                  <a:srgbClr val="738F7D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B62D5A-1E60-4330-B23A-2FAD14F5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75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3075" b="1">
                <a:solidFill>
                  <a:srgbClr val="293B34"/>
                </a:solidFill>
              </a:defRPr>
            </a:pPr>
            <a:r>
              <a:rPr sz="3075" b="1">
                <a:solidFill>
                  <a:srgbClr val="293B34"/>
                </a:solidFill>
              </a:rPr>
              <a:t>“Khách hàng nào</a:t>
            </a:r>
          </a:p>
          <a:p xmlns:a="http://schemas.openxmlformats.org/drawingml/2006/main">
            <a:pPr>
              <a:defRPr sz="3075" b="1">
                <a:solidFill>
                  <a:srgbClr val="293B34"/>
                </a:solidFill>
              </a:defRPr>
            </a:pPr>
            <a:r>
              <a:rPr sz="3075" b="1">
                <a:solidFill>
                  <a:srgbClr val="293B34"/>
                </a:solidFill>
              </a:rPr>
              <a:t>cần được cảnh báo</a:t>
            </a:r>
          </a:p>
          <a:p xmlns:a="http://schemas.openxmlformats.org/drawingml/2006/main">
            <a:pPr>
              <a:defRPr sz="3075" b="1">
                <a:solidFill>
                  <a:srgbClr val="293B34"/>
                </a:solidFill>
              </a:defRPr>
            </a:pPr>
            <a:r>
              <a:rPr sz="3075" b="1">
                <a:solidFill>
                  <a:srgbClr val="293B34"/>
                </a:solidFill>
              </a:rPr>
              <a:t>sớm?”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07380-1A67-4961-8320-3E284CD0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4648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6584E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6584E"/>
                </a:solidFill>
              </a:defRPr>
            </a:pPr>
            <a:r>
              <a:rPr sz="1500" b="0">
                <a:solidFill>
                  <a:srgbClr val="46584E"/>
                </a:solidFill>
              </a:rPr>
              <a:t>Từ lịch sử trả nợ, số dư hóa đơn và khoản thanh toán 6 tháng, mô hình ước lượng nguy cơ default trong tháng tiếp theo.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691E9-8441-41C4-AF77-39D630DF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7685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8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5615A5-53AD-4510-A187-09583D26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149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738F7D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38F7D"/>
                </a:solidFill>
              </a:defRPr>
            </a:pPr>
            <a:r>
              <a:rPr sz="975" b="1">
                <a:solidFill>
                  <a:srgbClr val="738F7D"/>
                </a:solidFill>
              </a:rPr>
              <a:t>PHÂN LOẠI NHỊ PHÂN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18D176-D702-4290-988A-1FC6CBB9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28800"/>
            <a:ext cx="529590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07C987-8DF2-4D8D-B4DA-9010519E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955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DD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1C3966-23E4-48D2-AF42-DC157A1A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28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C87B61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87B61"/>
                </a:solidFill>
              </a:defRPr>
            </a:pPr>
            <a:r>
              <a:rPr sz="1425" b="1">
                <a:solidFill>
                  <a:srgbClr val="C87B61"/>
                </a:solidFill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4414F5-A51B-4972-A6FD-EB49F4CD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0193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93B34"/>
                </a:solidFill>
              </a:defRPr>
            </a:pPr>
            <a:r>
              <a:rPr sz="1275" b="1">
                <a:solidFill>
                  <a:srgbClr val="293B34"/>
                </a:solidFill>
              </a:rPr>
              <a:t>NHẬP DỮ LIỆU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12C239-CD1A-4B65-9571-3EA899D7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400300"/>
            <a:ext cx="3762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46584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6584E"/>
                </a:solidFill>
              </a:defRPr>
            </a:pPr>
            <a:r>
              <a:rPr sz="1275" b="0">
                <a:solidFill>
                  <a:srgbClr val="46584E"/>
                </a:solidFill>
              </a:rPr>
              <a:t>23 đặc trưng của khách hàng.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472615-FE1A-4E23-A2E1-35D251F8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62275"/>
            <a:ext cx="1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ECB5C4-A851-4C56-B604-DE134843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209925"/>
            <a:ext cx="529590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F2F6F1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8AB1A3-9B55-4D2D-98A1-193A1224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4766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8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76C236-F3A6-4333-B258-FBB9787D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6099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3B53E3-0730-4EE2-9A40-83637AAC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40042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93B34"/>
                </a:solidFill>
              </a:defRPr>
            </a:pPr>
            <a:r>
              <a:rPr sz="1275" b="1">
                <a:solidFill>
                  <a:srgbClr val="293B34"/>
                </a:solidFill>
              </a:rPr>
              <a:t>TÍNH XÁC SUẤT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AC5441-EA8E-4A2E-9F9B-E15E521D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781425"/>
            <a:ext cx="3762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46584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6584E"/>
                </a:solidFill>
              </a:defRPr>
            </a:pPr>
            <a:r>
              <a:rPr sz="1275" b="0">
                <a:solidFill>
                  <a:srgbClr val="46584E"/>
                </a:solidFill>
              </a:rPr>
              <a:t>Pipeline Logistic Regression.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CB4D81-87CD-497A-B1AF-84442D85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43400"/>
            <a:ext cx="1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01BE63-7978-4D59-8A84-355151AB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591050"/>
            <a:ext cx="529590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E2B426-6C2A-4578-9AFA-D655A1A9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8577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DD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4A160D-3356-435D-A58C-B6E71159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991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C87B61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87B61"/>
                </a:solidFill>
              </a:defRPr>
            </a:pPr>
            <a:r>
              <a:rPr sz="1425" b="1">
                <a:solidFill>
                  <a:srgbClr val="C87B61"/>
                </a:solidFill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AAF1E4-C18F-4B40-A3DB-EF8258B1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7815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93B34"/>
                </a:solidFill>
              </a:defRPr>
            </a:pPr>
            <a:r>
              <a:rPr sz="1275" b="1">
                <a:solidFill>
                  <a:srgbClr val="293B34"/>
                </a:solidFill>
              </a:rPr>
              <a:t>CẢNH BÁO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004BD9-7BC9-4666-9723-31F1C772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162550"/>
            <a:ext cx="3762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46584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6584E"/>
                </a:solidFill>
              </a:defRPr>
            </a:pPr>
            <a:r>
              <a:rPr sz="1275" b="0">
                <a:solidFill>
                  <a:srgbClr val="46584E"/>
                </a:solidFill>
              </a:rPr>
              <a:t>So sánh với ngưỡng 0,150.</a:t>
            </a:r>
          </a:p>
        </p:txBody>
      </p:sp>
    </p:spTree>
    <p:extLst>
      <p:ext uri="{BB962C8B-B14F-4D97-AF65-F5344CB8AC3E}">
        <p14:creationId xmlns:p14="http://schemas.microsoft.com/office/powerpoint/2010/main" val="16621790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EDF99C-ABE7-4590-8780-F66428A0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C87B61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87B61"/>
                </a:solidFill>
              </a:defRPr>
            </a:pPr>
            <a:r>
              <a:rPr sz="1050" b="1">
                <a:solidFill>
                  <a:srgbClr val="C87B61"/>
                </a:solidFill>
              </a:rPr>
              <a:t>03   /   DỮ LIỆU THỰC NGHIỆM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E371C-D85F-44CD-8B5B-19872CC7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293B34"/>
                </a:solidFill>
              </a:defRPr>
            </a:pPr>
            <a:r>
              <a:rPr sz="2925" b="1">
                <a:solidFill>
                  <a:srgbClr val="293B34"/>
                </a:solidFill>
              </a:rPr>
              <a:t>Dữ liệu UCI nói gì?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81BA1-5B5C-4258-871A-549BA73C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716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758278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58278"/>
                </a:solidFill>
              </a:defRPr>
            </a:pPr>
            <a:r>
              <a:rPr sz="1200" b="0">
                <a:solidFill>
                  <a:srgbClr val="758278"/>
                </a:solidFill>
              </a:rPr>
              <a:t>Default of Credit Card Clients: 30.000 khách hàng và 25 cột.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0A175-4561-4D36-A264-CB629C54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24E31-05EE-4E13-8E14-513F31BD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1AD6F-F502-4DF4-AEC3-084D548D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E00EEE-A790-4079-9CEA-9B027D67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611DE-1807-4C02-8CFC-BFE550BF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4865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3"/>
          </a:solidFill>
          <a:ln xmlns:a="http://schemas.openxmlformats.org/drawingml/2006/main" w="9525">
            <a:solidFill>
              <a:srgbClr val="D7DE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398B81-4EBF-4701-BEED-8EEB663D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98A198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98A198"/>
                </a:solidFill>
              </a:defRPr>
            </a:pPr>
            <a:r>
              <a:rPr sz="825" b="1">
                <a:solidFill>
                  <a:srgbClr val="98A198"/>
                </a:solidFill>
              </a:rPr>
              <a:t>DỰ ĐOÁN RỦI RO THẺ TÍN DỤNG  •  HỌC MÁY CƠ BẢN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637F01-4331-46CB-8606-AF640C98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738F7D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38F7D"/>
                </a:solidFill>
              </a:defRPr>
            </a:pPr>
            <a:r>
              <a:rPr sz="900" b="1">
                <a:solidFill>
                  <a:srgbClr val="738F7D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3E58FB-3EC7-47AA-B7D3-55C7CDA0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3619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D366B-9FCF-4826-99AE-EEBC816F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3105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93B34"/>
                </a:solidFill>
              </a:defRPr>
            </a:pPr>
            <a:r>
              <a:rPr sz="3000" b="1">
                <a:solidFill>
                  <a:srgbClr val="293B34"/>
                </a:solidFill>
              </a:rPr>
              <a:t>30.000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0A44F4-FCCC-4706-804B-7901D288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146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75827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758278"/>
                </a:solidFill>
              </a:defRPr>
            </a:pPr>
            <a:r>
              <a:rPr sz="1050" b="1">
                <a:solidFill>
                  <a:srgbClr val="758278"/>
                </a:solidFill>
              </a:rPr>
              <a:t>KHÁCH HÀNG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641B1F-3CB4-4049-8A50-BD503B28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847850"/>
            <a:ext cx="3619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E6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8C746A-71E4-4161-907E-E30BA58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981200"/>
            <a:ext cx="3105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93B34"/>
                </a:solidFill>
              </a:defRPr>
            </a:pPr>
            <a:r>
              <a:rPr sz="3000" b="1">
                <a:solidFill>
                  <a:srgbClr val="293B34"/>
                </a:solidFill>
              </a:rPr>
              <a:t>23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B62A0E-69D6-4B4F-B2CE-908D67B4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146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75827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758278"/>
                </a:solidFill>
              </a:defRPr>
            </a:pPr>
            <a:r>
              <a:rPr sz="1050" b="1">
                <a:solidFill>
                  <a:srgbClr val="758278"/>
                </a:solidFill>
              </a:rPr>
              <a:t>ĐẶC TRƯNG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D28E84-E131-4633-8CDC-3B67A48F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47850"/>
            <a:ext cx="3619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FE9C5D-3C6F-4D55-BE2F-AB30B673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81200"/>
            <a:ext cx="3105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93B34"/>
                </a:solidFill>
              </a:defRPr>
            </a:pPr>
            <a:r>
              <a:rPr sz="3000" b="1">
                <a:solidFill>
                  <a:srgbClr val="293B34"/>
                </a:solidFill>
              </a:rPr>
              <a:t>22,1%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83FDD5-3A77-4E57-A4CC-2E87EFD1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5146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75827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758278"/>
                </a:solidFill>
              </a:defRPr>
            </a:pPr>
            <a:r>
              <a:rPr sz="1050" b="1">
                <a:solidFill>
                  <a:srgbClr val="758278"/>
                </a:solidFill>
              </a:rPr>
              <a:t>DEFAULT TRÊN TRAIN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094CF5-CD7C-4837-AC84-A3F43581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7181850" cy="2924175"/>
          </a:xfrm>
          <a:prstGeom xmlns:a="http://schemas.openxmlformats.org/drawingml/2006/main" prst="roundRect">
            <a:avLst>
              <a:gd name="adj" fmla="val 3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5AE240-F8A5-4084-96DB-B02C4212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147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93B34"/>
                </a:solidFill>
              </a:defRPr>
            </a:pPr>
            <a:r>
              <a:rPr sz="1575" b="1">
                <a:solidFill>
                  <a:srgbClr val="293B34"/>
                </a:solidFill>
              </a:rPr>
              <a:t>Phân bố lớp trên train</a:t>
            </a:r>
          </a:p>
        </p:txBody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B62EE2-A08A-4F17-A79A-1E0F586670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611cc58e846c8"/>
          <a:stretch xmlns:a="http://schemas.openxmlformats.org/drawingml/2006/main"/>
        </p:blipFill>
        <p:spPr>
          <a:xfrm xmlns:a="http://schemas.openxmlformats.org/drawingml/2006/main">
            <a:off x="3000375" y="3676650"/>
            <a:ext cx="2667000" cy="20002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329470-B439-4581-9DE9-F5D964F1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86100"/>
            <a:ext cx="3162300" cy="2924175"/>
          </a:xfrm>
          <a:prstGeom xmlns:a="http://schemas.openxmlformats.org/drawingml/2006/main" prst="roundRect">
            <a:avLst>
              <a:gd name="adj" fmla="val 3909"/>
            </a:avLst>
          </a:prstGeom>
          <a:solidFill xmlns:a="http://schemas.openxmlformats.org/drawingml/2006/main">
            <a:srgbClr val="E8EFE6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37F02C-3BD4-4B83-AF2C-347F293A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52825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225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93B34"/>
                </a:solidFill>
              </a:defRPr>
            </a:pPr>
            <a:r>
              <a:rPr sz="3225" b="1">
                <a:solidFill>
                  <a:srgbClr val="293B34"/>
                </a:solidFill>
              </a:rPr>
              <a:t>22,1%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081C1B-3467-4D15-9C59-78F1671B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624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6584E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6584E"/>
                </a:solidFill>
              </a:defRPr>
            </a:pPr>
            <a:r>
              <a:rPr sz="1500" b="0">
                <a:solidFill>
                  <a:srgbClr val="46584E"/>
                </a:solidFill>
              </a:rPr>
              <a:t>Khách hàng default</a:t>
            </a:r>
          </a:p>
          <a:p xmlns:a="http://schemas.openxmlformats.org/drawingml/2006/main">
            <a:pPr>
              <a:defRPr sz="1500" b="0">
                <a:solidFill>
                  <a:srgbClr val="46584E"/>
                </a:solidFill>
              </a:defRPr>
            </a:pPr>
            <a:r>
              <a:rPr sz="1500" b="0">
                <a:solidFill>
                  <a:srgbClr val="46584E"/>
                </a:solidFill>
              </a:rPr>
              <a:t>trong tập train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3ACE37-BDF7-4563-990C-5226D380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2920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3"/>
          </a:solidFill>
          <a:ln xmlns:a="http://schemas.openxmlformats.org/drawingml/2006/main" w="9525">
            <a:solidFill>
              <a:srgbClr val="D7DE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0F3515-33FB-4D74-87DB-661A1D97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38750"/>
            <a:ext cx="2400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758278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58278"/>
                </a:solidFill>
              </a:defRPr>
            </a:pPr>
            <a:r>
              <a:rPr sz="1200" b="0">
                <a:solidFill>
                  <a:srgbClr val="758278"/>
                </a:solidFill>
              </a:rPr>
              <a:t>Lớp default ít hơn, vì vậy accuracy không đủ để đánh giá mô hình.</a:t>
            </a:r>
          </a:p>
        </p:txBody>
      </p:sp>
    </p:spTree>
    <p:extLst>
      <p:ext uri="{BB962C8B-B14F-4D97-AF65-F5344CB8AC3E}">
        <p14:creationId xmlns:p14="http://schemas.microsoft.com/office/powerpoint/2010/main" val="3364822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24CB81-93FC-49CA-BC2F-A688017E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C87B61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87B61"/>
                </a:solidFill>
              </a:defRPr>
            </a:pPr>
            <a:r>
              <a:rPr sz="1050" b="1">
                <a:solidFill>
                  <a:srgbClr val="C87B61"/>
                </a:solidFill>
              </a:rPr>
              <a:t>04   /   QUY TRÌNH HỌC MÁY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F3880-10E5-4262-B418-9121CB9D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293B34"/>
                </a:solidFill>
              </a:defRPr>
            </a:pPr>
            <a:r>
              <a:rPr sz="2925" b="1">
                <a:solidFill>
                  <a:srgbClr val="293B34"/>
                </a:solidFill>
              </a:rPr>
              <a:t>Tách dữ liệu trước khi “học”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265CD-A211-4FC1-A74F-8EAFF73D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716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758278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58278"/>
                </a:solidFill>
              </a:defRPr>
            </a:pPr>
            <a:r>
              <a:rPr sz="1200" b="0">
                <a:solidFill>
                  <a:srgbClr val="758278"/>
                </a:solidFill>
              </a:rPr>
              <a:t>Train, validation và test có ba vai trò tách biệt.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E68B6-8FAD-4FDB-AC0F-65A54C6C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8F4A21-C9E8-464B-86DC-51C3D7AA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0A88EA-D91E-41D2-A6A0-913FAF0C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EB68F-0056-46FA-8462-1DFFDBAF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39945-B973-42C4-8110-EDFEE75C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4865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3"/>
          </a:solidFill>
          <a:ln xmlns:a="http://schemas.openxmlformats.org/drawingml/2006/main" w="9525">
            <a:solidFill>
              <a:srgbClr val="D7DE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B04FB7-F915-435F-ABCA-E532B8DA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98A198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98A198"/>
                </a:solidFill>
              </a:defRPr>
            </a:pPr>
            <a:r>
              <a:rPr sz="825" b="1">
                <a:solidFill>
                  <a:srgbClr val="98A198"/>
                </a:solidFill>
              </a:rPr>
              <a:t>DỰ ĐOÁN RỦI RO THẺ TÍN DỤNG  •  HỌC MÁY CƠ BẢN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1C2256-218F-43AA-B351-4299735B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738F7D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38F7D"/>
                </a:solidFill>
              </a:defRPr>
            </a:pPr>
            <a:r>
              <a:rPr sz="900" b="1">
                <a:solidFill>
                  <a:srgbClr val="738F7D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CD4A2C-F4AC-47BC-BF2C-7F50D691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93B34"/>
                </a:solidFill>
              </a:defRPr>
            </a:pPr>
            <a:r>
              <a:rPr sz="1650" b="1">
                <a:solidFill>
                  <a:srgbClr val="293B34"/>
                </a:solidFill>
              </a:rPr>
              <a:t>Một lần chia dữ liệu với random_state = 42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A8BC8-47C8-4FA6-ABD0-22B2A483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00300"/>
            <a:ext cx="6381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8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508DFD-2C4F-46F4-A649-A8DA940D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952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DBF33-B456-47E7-B17A-CDD72190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00300"/>
            <a:ext cx="21431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CA472D-3949-4285-9F12-555F6D3B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479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60%  TRAIN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27F07A-B716-4BB4-9911-0067314B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562225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93B34"/>
                </a:solidFill>
              </a:defRPr>
            </a:pPr>
            <a:r>
              <a:rPr sz="1125" b="1">
                <a:solidFill>
                  <a:srgbClr val="293B34"/>
                </a:solidFill>
              </a:rPr>
              <a:t>20%</a:t>
            </a:r>
          </a:p>
          <a:p xmlns:a="http://schemas.openxmlformats.org/drawingml/2006/main">
            <a:pPr>
              <a:defRPr sz="1125" b="1">
                <a:solidFill>
                  <a:srgbClr val="293B34"/>
                </a:solidFill>
              </a:defRPr>
            </a:pPr>
            <a:r>
              <a:rPr sz="1125" b="1">
                <a:solidFill>
                  <a:srgbClr val="293B34"/>
                </a:solidFill>
              </a:rPr>
              <a:t>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CB9602-91FD-4858-B44C-F14FA942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6479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20% 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6E4C71-3D8B-41B6-85D6-186FD9D5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24250"/>
            <a:ext cx="31813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B262C2-97C7-463E-8C9A-DF7B43C2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433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8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E83FBD-5E32-4E6C-9420-D1303A67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714750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93B34"/>
                </a:solidFill>
              </a:defRPr>
            </a:pPr>
            <a:r>
              <a:rPr sz="1200" b="1">
                <a:solidFill>
                  <a:srgbClr val="293B34"/>
                </a:solidFill>
              </a:rPr>
              <a:t>XÂY MÔ HÌNH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866CF1-4244-4658-BD19-A99E2A1B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71950"/>
            <a:ext cx="2638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46584E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46584E"/>
                </a:solidFill>
              </a:defRPr>
            </a:pPr>
            <a:r>
              <a:rPr sz="975" b="0">
                <a:solidFill>
                  <a:srgbClr val="46584E"/>
                </a:solidFill>
              </a:rPr>
              <a:t>Fit preprocessing và Logistic Regression trên train.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71EA26-A9AA-4E28-9AFC-7381B168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524250"/>
            <a:ext cx="31813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4EEDB3-9507-451C-BC5F-6B8E7D56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7433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9FF0C4-F274-4B97-851E-4B870FC4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714750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93B34"/>
                </a:solidFill>
              </a:defRPr>
            </a:pPr>
            <a:r>
              <a:rPr sz="1200" b="1">
                <a:solidFill>
                  <a:srgbClr val="293B34"/>
                </a:solidFill>
              </a:rPr>
              <a:t>CHỌN CẤU HÌNH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87F08E-789E-4B87-B115-A17126A5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171950"/>
            <a:ext cx="2638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46584E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46584E"/>
                </a:solidFill>
              </a:defRPr>
            </a:pPr>
            <a:r>
              <a:rPr sz="975" b="0">
                <a:solidFill>
                  <a:srgbClr val="46584E"/>
                </a:solidFill>
              </a:rPr>
              <a:t>CV chọn C, validation chọn model và ngưỡng.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7893-856B-4DD8-A641-28D75260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524250"/>
            <a:ext cx="31813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AE8E0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F606A0-3515-437A-8955-CA37FCBE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7433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E06BED-873A-47A8-812C-CD24B79F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714750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93B34"/>
                </a:solidFill>
              </a:defRPr>
            </a:pPr>
            <a:r>
              <a:rPr sz="1200" b="1">
                <a:solidFill>
                  <a:srgbClr val="293B34"/>
                </a:solidFill>
              </a:rPr>
              <a:t>KIỂM TRA CUỐI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CB7EF5-73F4-4E77-AAAA-727544D0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171950"/>
            <a:ext cx="2638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46584E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46584E"/>
                </a:solidFill>
              </a:defRPr>
            </a:pPr>
            <a:r>
              <a:rPr sz="975" b="0">
                <a:solidFill>
                  <a:srgbClr val="46584E"/>
                </a:solidFill>
              </a:rPr>
              <a:t>Mở test một lần sau khi đóng băng.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BDBCD8-CDC5-4A07-8A09-5EAEA513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81600"/>
            <a:ext cx="105346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8EFE6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421644-6466-4894-BEA6-0CD01624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72100"/>
            <a:ext cx="1809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4AE6E1-92D2-406D-BF41-A71EF9BA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10200"/>
            <a:ext cx="1581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738F7D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38F7D"/>
                </a:solidFill>
              </a:defRPr>
            </a:pPr>
            <a:r>
              <a:rPr sz="975" b="1">
                <a:solidFill>
                  <a:srgbClr val="738F7D"/>
                </a:solidFill>
              </a:rPr>
              <a:t>ANTI-LEAKAGE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7846EE-79A7-45D5-9E88-776025F2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391150"/>
            <a:ext cx="8001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93B34"/>
                </a:solidFill>
              </a:defRPr>
            </a:pPr>
            <a:r>
              <a:rPr sz="1275" b="1">
                <a:solidFill>
                  <a:srgbClr val="293B34"/>
                </a:solidFill>
              </a:rPr>
              <a:t>EDA chỉ dùng train. Pipeline fit trên train hoặc train-fold, không dùng test để chọn mô hình.</a:t>
            </a:r>
          </a:p>
        </p:txBody>
      </p:sp>
    </p:spTree>
    <p:extLst>
      <p:ext uri="{BB962C8B-B14F-4D97-AF65-F5344CB8AC3E}">
        <p14:creationId xmlns:p14="http://schemas.microsoft.com/office/powerpoint/2010/main" val="4944619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5020A8-6F81-4C24-AFB3-0A95E55F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C87B61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87B61"/>
                </a:solidFill>
              </a:defRPr>
            </a:pPr>
            <a:r>
              <a:rPr sz="1050" b="1">
                <a:solidFill>
                  <a:srgbClr val="C87B61"/>
                </a:solidFill>
              </a:rPr>
              <a:t>05   /   PHƯƠNG PHÁP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F1F7A-F01A-4C9B-81C7-D4F2DAD3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293B34"/>
                </a:solidFill>
              </a:defRPr>
            </a:pPr>
            <a:r>
              <a:rPr sz="2925" b="1">
                <a:solidFill>
                  <a:srgbClr val="293B34"/>
                </a:solidFill>
              </a:rPr>
              <a:t>Ba phần của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1FC30-62C9-4A59-9393-C59FEBE7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716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758278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58278"/>
                </a:solidFill>
              </a:defRPr>
            </a:pPr>
            <a:r>
              <a:rPr sz="1200" b="0">
                <a:solidFill>
                  <a:srgbClr val="758278"/>
                </a:solidFill>
              </a:rPr>
              <a:t>Pipeline xử lý dữ liệu và Logistic Regression trong cùng một luồng.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E43BE-DF4B-46B6-877F-6A86AF24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6B96D-A1FF-4B3E-800E-B10EAAFF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232EB-8DD3-47D2-831C-F543B32E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B60AF-5D78-4FEB-8D63-596DA2C2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1124C-B137-4811-A17F-4C44D405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4865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3"/>
          </a:solidFill>
          <a:ln xmlns:a="http://schemas.openxmlformats.org/drawingml/2006/main" w="9525">
            <a:solidFill>
              <a:srgbClr val="D7DE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6C6714-C745-4649-B953-8454B109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98A198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98A198"/>
                </a:solidFill>
              </a:defRPr>
            </a:pPr>
            <a:r>
              <a:rPr sz="825" b="1">
                <a:solidFill>
                  <a:srgbClr val="98A198"/>
                </a:solidFill>
              </a:rPr>
              <a:t>DỰ ĐOÁN RỦI RO THẺ TÍN DỤNG  •  HỌC MÁY CƠ BẢN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2023F2-83D0-46C3-A2DD-0DE4060E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738F7D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38F7D"/>
                </a:solidFill>
              </a:defRPr>
            </a:pPr>
            <a:r>
              <a:rPr sz="900" b="1">
                <a:solidFill>
                  <a:srgbClr val="738F7D"/>
                </a:solidFill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17DAF-B621-49E7-85C7-D9A2B1BB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3067050" cy="36004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B56D80-21CE-48FE-8EF4-0CBF4C00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2000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8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5F95B3-EC21-4411-ADA6-16F1A3C3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133600"/>
            <a:ext cx="177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738F7D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38F7D"/>
                </a:solidFill>
              </a:defRPr>
            </a:pPr>
            <a:r>
              <a:rPr sz="975" b="1">
                <a:solidFill>
                  <a:srgbClr val="738F7D"/>
                </a:solidFill>
              </a:rPr>
              <a:t>DỮ LIỆU SỐ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AE1E9-123F-4D09-AA2F-F3A78D63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860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93B34"/>
                </a:solidFill>
              </a:defRPr>
            </a:pPr>
            <a:r>
              <a:rPr sz="1875" b="1">
                <a:solidFill>
                  <a:srgbClr val="293B34"/>
                </a:solidFill>
              </a:rPr>
              <a:t>Median imputation</a:t>
            </a:r>
          </a:p>
          <a:p xmlns:a="http://schemas.openxmlformats.org/drawingml/2006/main">
            <a:pPr>
              <a:defRPr sz="1875" b="1">
                <a:solidFill>
                  <a:srgbClr val="293B34"/>
                </a:solidFill>
              </a:defRPr>
            </a:pPr>
            <a:r>
              <a:rPr sz="1875" b="1">
                <a:solidFill>
                  <a:srgbClr val="293B34"/>
                </a:solidFill>
              </a:rPr>
              <a:t>StandardScaler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59E787-5FFF-4AD6-98F0-3B359F10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2533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46584E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6584E"/>
                </a:solidFill>
              </a:defRPr>
            </a:pPr>
            <a:r>
              <a:rPr sz="1200" b="0">
                <a:solidFill>
                  <a:srgbClr val="46584E"/>
                </a:solidFill>
              </a:rPr>
              <a:t>LIMIT_BAL, AGE, BILL_AMT*, PAY_AMT*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5CFC68-867F-443E-BF37-02F94C43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47850"/>
            <a:ext cx="3067050" cy="36004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E8EFE6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CE8CCF-D0D5-417C-A3B1-A9A72AB7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095500"/>
            <a:ext cx="2000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8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497EFF-1786-4545-B48E-E2CBF203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33600"/>
            <a:ext cx="177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738F7D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38F7D"/>
                </a:solidFill>
              </a:defRPr>
            </a:pPr>
            <a:r>
              <a:rPr sz="975" b="1">
                <a:solidFill>
                  <a:srgbClr val="738F7D"/>
                </a:solidFill>
              </a:rPr>
              <a:t>DỮ LIỆU PHÂN LOẠI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F0D397-4241-42F9-90DA-84A811A9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6860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93B34"/>
                </a:solidFill>
              </a:defRPr>
            </a:pPr>
            <a:r>
              <a:rPr sz="1875" b="1">
                <a:solidFill>
                  <a:srgbClr val="293B34"/>
                </a:solidFill>
              </a:rPr>
              <a:t>Most-frequent imputation</a:t>
            </a:r>
          </a:p>
          <a:p xmlns:a="http://schemas.openxmlformats.org/drawingml/2006/main">
            <a:pPr>
              <a:defRPr sz="1875" b="1">
                <a:solidFill>
                  <a:srgbClr val="293B34"/>
                </a:solidFill>
              </a:defRPr>
            </a:pPr>
            <a:r>
              <a:rPr sz="1875" b="1">
                <a:solidFill>
                  <a:srgbClr val="293B34"/>
                </a:solidFill>
              </a:rPr>
              <a:t>OneHotEncoder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614D20-C44B-4B83-B40C-6EF4FE82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638550"/>
            <a:ext cx="2533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46584E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6584E"/>
                </a:solidFill>
              </a:defRPr>
            </a:pPr>
            <a:r>
              <a:rPr sz="1200" b="0">
                <a:solidFill>
                  <a:srgbClr val="46584E"/>
                </a:solidFill>
              </a:rPr>
              <a:t>SEX, EDUCATION, MARRIAGE, PAY_*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02266C-C854-4DA9-87E0-87718190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47850"/>
            <a:ext cx="3067050" cy="36004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C95D99-C442-44EE-8663-B3E15933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095500"/>
            <a:ext cx="2000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3DD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F69DDB-709C-4641-A3C0-A2882CEC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33600"/>
            <a:ext cx="177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738F7D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38F7D"/>
                </a:solidFill>
              </a:defRPr>
            </a:pPr>
            <a:r>
              <a:rPr sz="975" b="1">
                <a:solidFill>
                  <a:srgbClr val="738F7D"/>
                </a:solidFill>
              </a:rPr>
              <a:t>MÔ HÌNH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451F17-3D37-485E-BBB6-4E9E7F26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6860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93B34"/>
                </a:solidFill>
              </a:defRPr>
            </a:pPr>
            <a:r>
              <a:rPr sz="1875" b="1">
                <a:solidFill>
                  <a:srgbClr val="293B34"/>
                </a:solidFill>
              </a:rPr>
              <a:t>Logistic Regression</a:t>
            </a:r>
          </a:p>
          <a:p xmlns:a="http://schemas.openxmlformats.org/drawingml/2006/main">
            <a:pPr>
              <a:defRPr sz="1875" b="1">
                <a:solidFill>
                  <a:srgbClr val="293B34"/>
                </a:solidFill>
              </a:defRPr>
            </a:pPr>
            <a:r>
              <a:rPr sz="1875" b="1">
                <a:solidFill>
                  <a:srgbClr val="293B34"/>
                </a:solidFill>
              </a:rPr>
              <a:t>C = 1,0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5763C5-F681-4F5D-824E-818C9971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638550"/>
            <a:ext cx="2533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46584E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6584E"/>
                </a:solidFill>
              </a:defRPr>
            </a:pPr>
            <a:r>
              <a:rPr sz="1200" b="0">
                <a:solidFill>
                  <a:srgbClr val="46584E"/>
                </a:solidFill>
              </a:rPr>
              <a:t>Không class_weight, không calibration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F1DC67-9E90-45FB-B337-8A6E24E1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1054417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4F6F1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E92953-72A7-4049-8FCE-283105ED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531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93B34"/>
                </a:solidFill>
              </a:defRPr>
            </a:pPr>
            <a:r>
              <a:rPr sz="1275" b="1">
                <a:solidFill>
                  <a:srgbClr val="293B34"/>
                </a:solidFill>
              </a:rPr>
              <a:t>ID và target bị loại khỏi feature set. Tất cả bước học từ dữ liệu nằm trong Pipeline.</a:t>
            </a:r>
          </a:p>
        </p:txBody>
      </p:sp>
    </p:spTree>
    <p:extLst>
      <p:ext uri="{BB962C8B-B14F-4D97-AF65-F5344CB8AC3E}">
        <p14:creationId xmlns:p14="http://schemas.microsoft.com/office/powerpoint/2010/main" val="9903486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42400F-511E-42B7-874B-89E3D68E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C87B61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87B61"/>
                </a:solidFill>
              </a:defRPr>
            </a:pPr>
            <a:r>
              <a:rPr sz="1050" b="1">
                <a:solidFill>
                  <a:srgbClr val="C87B61"/>
                </a:solidFill>
              </a:rPr>
              <a:t>06   /   THÍ NGHIỆM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ECB826-74AC-4625-9150-B39A3A35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293B34"/>
                </a:solidFill>
              </a:defRPr>
            </a:pPr>
            <a:r>
              <a:rPr sz="2925" b="1">
                <a:solidFill>
                  <a:srgbClr val="293B34"/>
                </a:solidFill>
              </a:rPr>
              <a:t>Accuracy có phản ánh đúng mục tiêu?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F366C-918F-43BC-8747-C84EBF98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716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758278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58278"/>
                </a:solidFill>
              </a:defRPr>
            </a:pPr>
            <a:r>
              <a:rPr sz="1200" b="0">
                <a:solidFill>
                  <a:srgbClr val="758278"/>
                </a:solidFill>
              </a:rPr>
              <a:t>Nhóm xem accuracy cùng Average Precision, recall và Brier score.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97908-BBCE-41E5-8F0B-07DF5B72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6CE863-5176-43D8-8648-4D65EABA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C358F-46E6-4FBA-A087-72ED4263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18C14E-1A30-44E2-9584-F761551A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C576D0-93BC-41C6-81CA-D1DB8937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4865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3"/>
          </a:solidFill>
          <a:ln xmlns:a="http://schemas.openxmlformats.org/drawingml/2006/main" w="9525">
            <a:solidFill>
              <a:srgbClr val="D7DE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E991B4-5D30-4999-840F-1A3E7ABD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98A198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98A198"/>
                </a:solidFill>
              </a:defRPr>
            </a:pPr>
            <a:r>
              <a:rPr sz="825" b="1">
                <a:solidFill>
                  <a:srgbClr val="98A198"/>
                </a:solidFill>
              </a:rPr>
              <a:t>DỰ ĐOÁN RỦI RO THẺ TÍN DỤNG  •  HỌC MÁY CƠ BẢN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F48EBA-1DC2-4DCA-AEAF-F4233438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738F7D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38F7D"/>
                </a:solidFill>
              </a:defRPr>
            </a:pPr>
            <a:r>
              <a:rPr sz="900" b="1">
                <a:solidFill>
                  <a:srgbClr val="738F7D"/>
                </a:solidFill>
              </a:rPr>
              <a:t>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FD0A21-3C7B-45C2-BCEA-08FB13A0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6657975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1C444C-2423-4C1A-BFC5-EE6257C6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050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93B34"/>
                </a:solidFill>
              </a:defRPr>
            </a:pPr>
            <a:r>
              <a:rPr sz="1575" b="1">
                <a:solidFill>
                  <a:srgbClr val="293B34"/>
                </a:solidFill>
              </a:rPr>
              <a:t>So sánh trên 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E7A550-8428-4510-9489-5E41A661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14625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93B34"/>
                </a:solidFill>
              </a:defRPr>
            </a:pPr>
            <a:r>
              <a:rPr sz="1275" b="1">
                <a:solidFill>
                  <a:srgbClr val="293B34"/>
                </a:solidFill>
              </a:rPr>
              <a:t>Logistic unweighted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15567C-5FAD-4F48-A13C-6EDFF840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5752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46584E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6584E"/>
                </a:solidFill>
              </a:defRPr>
            </a:pPr>
            <a:r>
              <a:rPr sz="1200" b="0">
                <a:solidFill>
                  <a:srgbClr val="46584E"/>
                </a:solidFill>
              </a:rPr>
              <a:t>AP 0,5372  |  Recall 0,3459  |  Brier 0,1368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630CA3-ADC2-459D-9DBE-7BC38B2E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766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3"/>
          </a:solidFill>
          <a:ln xmlns:a="http://schemas.openxmlformats.org/drawingml/2006/main" w="9525">
            <a:solidFill>
              <a:srgbClr val="D7DE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C021DF-1A08-4497-9241-4B329B58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0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93B34"/>
                </a:solidFill>
              </a:defRPr>
            </a:pPr>
            <a:r>
              <a:rPr sz="1275" b="1">
                <a:solidFill>
                  <a:srgbClr val="293B34"/>
                </a:solidFill>
              </a:rPr>
              <a:t>Logistic balanced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BC7350-80EA-40BA-9536-A5FA0583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529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46584E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6584E"/>
                </a:solidFill>
              </a:defRPr>
            </a:pPr>
            <a:r>
              <a:rPr sz="1200" b="0">
                <a:solidFill>
                  <a:srgbClr val="46584E"/>
                </a:solidFill>
              </a:rPr>
              <a:t>AP 0,5369  |  Recall 0,7273  |  Brier 0,1832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949C15-CA90-4A16-AFDE-8DA1F6C2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197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C87B61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C87B61"/>
                </a:solidFill>
              </a:defRPr>
            </a:pPr>
            <a:r>
              <a:rPr sz="1350" b="1">
                <a:solidFill>
                  <a:srgbClr val="C87B61"/>
                </a:solidFill>
              </a:rPr>
              <a:t>Balanced tăng recall nhưng xác suất kém hiệu chỉnh hơn.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BA0990-A660-46D3-B20B-67C48BDB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47850"/>
            <a:ext cx="3686175" cy="419100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E8EFE6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FEB1D7-5904-4B66-A79A-1BDA06C1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93B34"/>
                </a:solidFill>
              </a:defRPr>
            </a:pPr>
            <a:r>
              <a:rPr sz="1575" b="1">
                <a:solidFill>
                  <a:srgbClr val="293B34"/>
                </a:solidFill>
              </a:rPr>
              <a:t>Calibration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3A5EB3-0963-42E0-BDE9-FB07612203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d8cf1f51f8496c"/>
          <a:stretch xmlns:a="http://schemas.openxmlformats.org/drawingml/2006/main"/>
        </p:blipFill>
        <p:spPr>
          <a:xfrm xmlns:a="http://schemas.openxmlformats.org/drawingml/2006/main">
            <a:off x="8116094" y="2476500"/>
            <a:ext cx="2722563" cy="2333625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1DD3D6-37AD-4DB7-B8F8-AB97C51F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196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46584E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6584E"/>
                </a:solidFill>
              </a:defRPr>
            </a:pPr>
            <a:r>
              <a:rPr sz="1050" b="0">
                <a:solidFill>
                  <a:srgbClr val="46584E"/>
                </a:solidFill>
              </a:rPr>
              <a:t>Reliability diagram dùng để kiểm tra xác suất dự đoán có phù hợp tỷ lệ thực tế hay không.</a:t>
            </a:r>
          </a:p>
        </p:txBody>
      </p:sp>
    </p:spTree>
    <p:extLst>
      <p:ext uri="{BB962C8B-B14F-4D97-AF65-F5344CB8AC3E}">
        <p14:creationId xmlns:p14="http://schemas.microsoft.com/office/powerpoint/2010/main" val="12566798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91A48C-3E1A-4C0D-AEB6-E2AAA0F5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C87B61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87B61"/>
                </a:solidFill>
              </a:defRPr>
            </a:pPr>
            <a:r>
              <a:rPr sz="1050" b="1">
                <a:solidFill>
                  <a:srgbClr val="C87B61"/>
                </a:solidFill>
              </a:rPr>
              <a:t>07   /   THÍ NGHIỆM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B6D29-B4F4-42DA-88B4-943F7DCE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293B34"/>
                </a:solidFill>
              </a:defRPr>
            </a:pPr>
            <a:r>
              <a:rPr sz="2925" b="1">
                <a:solidFill>
                  <a:srgbClr val="293B34"/>
                </a:solidFill>
              </a:rPr>
              <a:t>Chọn ngưỡng theo chi phí giả định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73BA0-1C29-440B-8F67-7025CD9F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716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758278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58278"/>
                </a:solidFill>
              </a:defRPr>
            </a:pPr>
            <a:r>
              <a:rPr sz="1200" b="0">
                <a:solidFill>
                  <a:srgbClr val="758278"/>
                </a:solidFill>
              </a:rPr>
              <a:t>FN = 5 và FP = 1, nên bỏ sót default đắt hơn cảnh báo nhầm.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41CB3-9822-41F7-BD3D-FBA36E9C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79037-C2E2-4F65-A321-9B480634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69A02-223E-4896-AEE0-D6FCB0EE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E97E8-FF62-4F2F-973E-011B2C91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6312FD-BC38-4FEB-B76D-907BEBCB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4865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3"/>
          </a:solidFill>
          <a:ln xmlns:a="http://schemas.openxmlformats.org/drawingml/2006/main" w="9525">
            <a:solidFill>
              <a:srgbClr val="D7DE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CD166-57EB-4DE4-9AB9-78A0CAF1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98A198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98A198"/>
                </a:solidFill>
              </a:defRPr>
            </a:pPr>
            <a:r>
              <a:rPr sz="825" b="1">
                <a:solidFill>
                  <a:srgbClr val="98A198"/>
                </a:solidFill>
              </a:rPr>
              <a:t>DỰ ĐOÁN RỦI RO THẺ TÍN DỤNG  •  HỌC MÁY CƠ BẢN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69C78-FA3E-42CE-B5B5-66B22E37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738F7D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38F7D"/>
                </a:solidFill>
              </a:defRPr>
            </a:pPr>
            <a:r>
              <a:rPr sz="900" b="1">
                <a:solidFill>
                  <a:srgbClr val="738F7D"/>
                </a:solidFill>
              </a:rPr>
              <a:t>07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991B4-C547-4B62-A9E9-9610D5DC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51435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D4EB7F-E34D-4596-A94D-B72CA992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2000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3DD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4A0CFA-3435-49EB-BDED-91F00816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52650"/>
            <a:ext cx="177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738F7D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38F7D"/>
                </a:solidFill>
              </a:defRPr>
            </a:pPr>
            <a:r>
              <a:rPr sz="975" b="1">
                <a:solidFill>
                  <a:srgbClr val="738F7D"/>
                </a:solidFill>
              </a:rPr>
              <a:t>CHI PHÍ GIẢ ĐỊNH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454888-7112-4C4F-AC59-B233DC1C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2415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900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93B34"/>
                </a:solidFill>
              </a:defRPr>
            </a:pPr>
            <a:r>
              <a:rPr sz="3900" b="1">
                <a:solidFill>
                  <a:srgbClr val="293B34"/>
                </a:solidFill>
              </a:rPr>
              <a:t>0,150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269260-546C-476D-8B48-2BFF7F02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46584E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6584E"/>
                </a:solidFill>
              </a:defRPr>
            </a:pPr>
            <a:r>
              <a:rPr sz="1425" b="0">
                <a:solidFill>
                  <a:srgbClr val="46584E"/>
                </a:solidFill>
              </a:rPr>
              <a:t>ngưỡng được chọn trên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66F621-3547-42A0-950A-870D0F7A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3"/>
          </a:solidFill>
          <a:ln xmlns:a="http://schemas.openxmlformats.org/drawingml/2006/main" w="9525">
            <a:solidFill>
              <a:srgbClr val="D7DE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4F32F1-3BFC-44AC-A1ED-923EC71A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93B34"/>
                </a:solidFill>
              </a:defRPr>
            </a:pPr>
            <a:r>
              <a:rPr sz="1500" b="1">
                <a:solidFill>
                  <a:srgbClr val="293B34"/>
                </a:solidFill>
              </a:rPr>
              <a:t>Chi phí validation: 3.405</a:t>
            </a:r>
          </a:p>
          <a:p xmlns:a="http://schemas.openxmlformats.org/drawingml/2006/main">
            <a:pPr>
              <a:defRPr sz="1500" b="1">
                <a:solidFill>
                  <a:srgbClr val="293B34"/>
                </a:solidFill>
              </a:defRPr>
            </a:pPr>
            <a:r>
              <a:rPr sz="1500" b="1">
                <a:solidFill>
                  <a:srgbClr val="293B34"/>
                </a:solidFill>
              </a:rPr>
              <a:t>0,5675 mỗi khách hàng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C76632-764C-49CE-83E9-A14490F5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9587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C87B61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87B61"/>
                </a:solidFill>
              </a:defRPr>
            </a:pPr>
            <a:r>
              <a:rPr sz="1200" b="0">
                <a:solidFill>
                  <a:srgbClr val="C87B61"/>
                </a:solidFill>
              </a:rPr>
              <a:t>Hạ ngưỡng làm recall tăng, đồng thời tăng số cảnh báo nhầm.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6AF0EA-1D3F-49F1-9AC4-73018C7D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47850"/>
            <a:ext cx="50482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8EFE6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F42D9B-E0B5-406C-9977-9F11934E9F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0a8df2b1a48aa"/>
          <a:stretch xmlns:a="http://schemas.openxmlformats.org/drawingml/2006/main"/>
        </p:blipFill>
        <p:spPr>
          <a:xfrm xmlns:a="http://schemas.openxmlformats.org/drawingml/2006/main">
            <a:off x="6619875" y="2165747"/>
            <a:ext cx="4333875" cy="325040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3796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1A85F9-70E9-4B0B-BB2F-5A65C8C4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C87B61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87B61"/>
                </a:solidFill>
              </a:defRPr>
            </a:pPr>
            <a:r>
              <a:rPr sz="1050" b="1">
                <a:solidFill>
                  <a:srgbClr val="C87B61"/>
                </a:solidFill>
              </a:rPr>
              <a:t>08   /   THÍ NGHIỆM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D0503-7D4A-4EC1-B0B3-2DFBCB1B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293B34"/>
                </a:solidFill>
              </a:defRPr>
            </a:pPr>
            <a:r>
              <a:rPr sz="2925" b="1">
                <a:solidFill>
                  <a:srgbClr val="293B34"/>
                </a:solidFill>
              </a:rPr>
              <a:t>Kết quả test sau khi đóng băng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19446-9129-41D3-BD34-FC3A12F0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716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758278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58278"/>
                </a:solidFill>
              </a:defRPr>
            </a:pPr>
            <a:r>
              <a:rPr sz="1200" b="0">
                <a:solidFill>
                  <a:srgbClr val="758278"/>
                </a:solidFill>
              </a:rPr>
              <a:t>Pipeline, C, calibration và threshold được khóa trước khi mở test.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AEDC7-F644-45EA-95EE-258760C2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7626A-D067-4F1F-8A21-1AF3730E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3C9B8-418D-4A36-8D4A-0DBC00B2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69CC9-1915-47A8-B5F3-425E3099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E5041-8F3B-45F3-B3FC-057A6B4B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4865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3"/>
          </a:solidFill>
          <a:ln xmlns:a="http://schemas.openxmlformats.org/drawingml/2006/main" w="9525">
            <a:solidFill>
              <a:srgbClr val="D7DE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250EE-F4F3-41C4-914C-5936710A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98A198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98A198"/>
                </a:solidFill>
              </a:defRPr>
            </a:pPr>
            <a:r>
              <a:rPr sz="825" b="1">
                <a:solidFill>
                  <a:srgbClr val="98A198"/>
                </a:solidFill>
              </a:rPr>
              <a:t>DỰ ĐOÁN RỦI RO THẺ TÍN DỤNG  •  HỌC MÁY CƠ BẢN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33D35B-22A8-47A9-BD9D-50F91E67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738F7D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38F7D"/>
                </a:solidFill>
              </a:defRPr>
            </a:pPr>
            <a:r>
              <a:rPr sz="900" b="1">
                <a:solidFill>
                  <a:srgbClr val="738F7D"/>
                </a:solidFill>
              </a:rPr>
              <a:t>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90813-C9F6-40D4-954A-C9F0F139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38325"/>
            <a:ext cx="71818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36839E-8A11-4913-A2B3-DEC7B4D4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0764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93B34"/>
                </a:solidFill>
              </a:defRPr>
            </a:pPr>
            <a:r>
              <a:rPr sz="1575" b="1">
                <a:solidFill>
                  <a:srgbClr val="293B34"/>
                </a:solidFill>
              </a:rPr>
              <a:t>Kết quả trên test độc lập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D294D8-19D2-45BD-A3D3-B6E02051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6670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93B34"/>
                </a:solidFill>
              </a:defRPr>
            </a:pPr>
            <a:r>
              <a:rPr sz="2550" b="1">
                <a:solidFill>
                  <a:srgbClr val="293B34"/>
                </a:solidFill>
              </a:rPr>
              <a:t>64,52%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7F7B41-1A66-4806-91CA-0F2B83C1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162300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75827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758278"/>
                </a:solidFill>
              </a:defRPr>
            </a:pPr>
            <a:r>
              <a:rPr sz="1050" b="1">
                <a:solidFill>
                  <a:srgbClr val="758278"/>
                </a:solidFill>
              </a:rPr>
              <a:t>Accuracy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22F4E7-9777-4065-893B-2781BFED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8100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93B34"/>
                </a:solidFill>
              </a:defRPr>
            </a:pPr>
            <a:r>
              <a:rPr sz="2550" b="1">
                <a:solidFill>
                  <a:srgbClr val="293B34"/>
                </a:solidFill>
              </a:rPr>
              <a:t>73,40%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C92F3C-4119-499D-B1F7-A3543D0C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305300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75827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758278"/>
                </a:solidFill>
              </a:defRPr>
            </a:pPr>
            <a:r>
              <a:rPr sz="1050" b="1">
                <a:solidFill>
                  <a:srgbClr val="758278"/>
                </a:solidFill>
              </a:rPr>
              <a:t>Recall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0C9D5B-B301-4A1F-A0EC-6B97D822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670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93B34"/>
                </a:solidFill>
              </a:defRPr>
            </a:pPr>
            <a:r>
              <a:rPr sz="2550" b="1">
                <a:solidFill>
                  <a:srgbClr val="293B34"/>
                </a:solidFill>
              </a:rPr>
              <a:t>52,54%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DD6E4C-DFC3-4B2E-9CE5-C0381FE3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162300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75827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758278"/>
                </a:solidFill>
              </a:defRPr>
            </a:pPr>
            <a:r>
              <a:rPr sz="1050" b="1">
                <a:solidFill>
                  <a:srgbClr val="758278"/>
                </a:solidFill>
              </a:rPr>
              <a:t>Average Precision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38E2FA-08C0-4ABA-BB25-E61B6EFC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8100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93B34"/>
                </a:solidFill>
              </a:defRPr>
            </a:pPr>
            <a:r>
              <a:rPr sz="2550" b="1">
                <a:solidFill>
                  <a:srgbClr val="293B34"/>
                </a:solidFill>
              </a:rPr>
              <a:t>75,91%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A76E12-8378-4152-9252-EC9F6DFA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305300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75827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758278"/>
                </a:solidFill>
              </a:defRPr>
            </a:pPr>
            <a:r>
              <a:rPr sz="1050" b="1">
                <a:solidFill>
                  <a:srgbClr val="758278"/>
                </a:solidFill>
              </a:rPr>
              <a:t>ROC-AUC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DDCE32-331B-440B-9D65-89CDB86D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1435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46584E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46584E"/>
                </a:solidFill>
              </a:defRPr>
            </a:pPr>
            <a:r>
              <a:rPr sz="1275" b="1">
                <a:solidFill>
                  <a:srgbClr val="46584E"/>
                </a:solidFill>
              </a:rPr>
              <a:t>TN 2.897  |  FP 1.776  |  FN 353  |  TP 974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8A066B-3850-4B05-8BC4-CE2768B6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838325"/>
            <a:ext cx="3162300" cy="40005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E8EFE6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04D443-FFBC-4844-934B-3D23CCCCC3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9b50cf5054103"/>
          <a:stretch xmlns:a="http://schemas.openxmlformats.org/drawingml/2006/main"/>
        </p:blipFill>
        <p:spPr>
          <a:xfrm xmlns:a="http://schemas.openxmlformats.org/drawingml/2006/main">
            <a:off x="8401050" y="2440781"/>
            <a:ext cx="2762250" cy="2071688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7ECCC0-199D-4E40-B613-D6E6E25F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4825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93B34"/>
                </a:solidFill>
              </a:defRPr>
            </a:pPr>
            <a:r>
              <a:rPr sz="1200" b="1">
                <a:solidFill>
                  <a:srgbClr val="293B34"/>
                </a:solidFill>
              </a:rPr>
              <a:t>Chi phí giả định: 3.541</a:t>
            </a:r>
          </a:p>
          <a:p xmlns:a="http://schemas.openxmlformats.org/drawingml/2006/main">
            <a:pPr>
              <a:defRPr sz="1200" b="1">
                <a:solidFill>
                  <a:srgbClr val="293B34"/>
                </a:solidFill>
              </a:defRPr>
            </a:pPr>
            <a:r>
              <a:rPr sz="1200" b="1">
                <a:solidFill>
                  <a:srgbClr val="293B34"/>
                </a:solidFill>
              </a:rPr>
              <a:t>0,5902 mỗi khách hàng</a:t>
            </a:r>
          </a:p>
        </p:txBody>
      </p:sp>
    </p:spTree>
    <p:extLst>
      <p:ext uri="{BB962C8B-B14F-4D97-AF65-F5344CB8AC3E}">
        <p14:creationId xmlns:p14="http://schemas.microsoft.com/office/powerpoint/2010/main" val="19689570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DE2A51-48B1-4DF0-867C-CE6CB0D8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C87B61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87B61"/>
                </a:solidFill>
              </a:defRPr>
            </a:pPr>
            <a:r>
              <a:rPr sz="1050" b="1">
                <a:solidFill>
                  <a:srgbClr val="C87B61"/>
                </a:solidFill>
              </a:rPr>
              <a:t>09   /   THÍ NGHIỆM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65F90-FF79-4326-9262-7B0BFCE8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293B34"/>
                </a:solidFill>
              </a:defRPr>
            </a:pPr>
            <a:r>
              <a:rPr sz="2925" b="1">
                <a:solidFill>
                  <a:srgbClr val="293B34"/>
                </a:solidFill>
              </a:rPr>
              <a:t>Audit sai số theo nhóm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3888D-A888-4D33-855D-464A2F20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716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758278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58278"/>
                </a:solidFill>
              </a:defRPr>
            </a:pPr>
            <a:r>
              <a:rPr sz="1200" b="0">
                <a:solidFill>
                  <a:srgbClr val="758278"/>
                </a:solidFill>
              </a:rPr>
              <a:t>Các metric theo SEX, EDUCATION và MARRIAGE chỉ mang tính mô tả.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36198-64D6-406F-973D-2C61448C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9EAE4-2058-4F6F-80C0-D3E60E4F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2331B7-46D4-4A2E-8EEC-D501B350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48DC3A-4159-47A7-BB62-92A53CBB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D464E-3C6E-4263-85EC-FADB98F9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4865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3"/>
          </a:solidFill>
          <a:ln xmlns:a="http://schemas.openxmlformats.org/drawingml/2006/main" w="9525">
            <a:solidFill>
              <a:srgbClr val="D7DE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0A58C-72C1-410B-A051-3C7E1E35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98A198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98A198"/>
                </a:solidFill>
              </a:defRPr>
            </a:pPr>
            <a:r>
              <a:rPr sz="825" b="1">
                <a:solidFill>
                  <a:srgbClr val="98A198"/>
                </a:solidFill>
              </a:rPr>
              <a:t>DỰ ĐOÁN RỦI RO THẺ TÍN DỤNG  •  HỌC MÁY CƠ BẢN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7FAA8E-B2F9-4CBE-8DF3-A61A9FEE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738F7D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38F7D"/>
                </a:solidFill>
              </a:defRPr>
            </a:pPr>
            <a:r>
              <a:rPr sz="900" b="1">
                <a:solidFill>
                  <a:srgbClr val="738F7D"/>
                </a:solidFill>
              </a:rPr>
              <a:t>09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FE234-C5C9-466C-8A25-4A18B0A1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7286625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C4914-6665-479A-9073-24086F8580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362ccb15f422b"/>
          <a:stretch xmlns:a="http://schemas.openxmlformats.org/drawingml/2006/main"/>
        </p:blipFill>
        <p:spPr>
          <a:xfrm xmlns:a="http://schemas.openxmlformats.org/drawingml/2006/main">
            <a:off x="1192633" y="2133600"/>
            <a:ext cx="6492034" cy="2571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6E89AF-0FE7-4185-9E20-BE6C1260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0387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758278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58278"/>
                </a:solidFill>
              </a:defRPr>
            </a:pPr>
            <a:r>
              <a:rPr sz="1200" b="0">
                <a:solidFill>
                  <a:srgbClr val="758278"/>
                </a:solidFill>
              </a:rPr>
              <a:t>Nhóm ít mẫu được ghi chú riêng, không dùng để kết luận công bằng.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74FE61-CC0D-474E-8072-ABD2EA01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847850"/>
            <a:ext cx="3067050" cy="39433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E8EFE6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AD71F7-D8E2-490E-AA07-D198704C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1455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863A59-8427-498B-93AE-5EA6ACC1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152650"/>
            <a:ext cx="1009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738F7D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38F7D"/>
                </a:solidFill>
              </a:defRPr>
            </a:pPr>
            <a:r>
              <a:rPr sz="975" b="1">
                <a:solidFill>
                  <a:srgbClr val="738F7D"/>
                </a:solidFill>
              </a:rPr>
              <a:t>LƯU 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36A826-2F81-48D4-8438-53969357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6225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93B34"/>
                </a:solidFill>
              </a:defRPr>
            </a:pPr>
            <a:r>
              <a:rPr sz="1875" b="1">
                <a:solidFill>
                  <a:srgbClr val="293B34"/>
                </a:solidFill>
              </a:rPr>
              <a:t>SEX=1</a:t>
            </a:r>
          </a:p>
          <a:p xmlns:a="http://schemas.openxmlformats.org/drawingml/2006/main">
            <a:pPr>
              <a:defRPr sz="1875" b="1">
                <a:solidFill>
                  <a:srgbClr val="293B34"/>
                </a:solidFill>
              </a:defRPr>
            </a:pPr>
            <a:r>
              <a:rPr sz="1875" b="1">
                <a:solidFill>
                  <a:srgbClr val="293B34"/>
                </a:solidFill>
              </a:rPr>
              <a:t>Recall 78,61%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58F88A-4D37-41BB-9B14-541B050F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338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3"/>
          </a:solidFill>
          <a:ln xmlns:a="http://schemas.openxmlformats.org/drawingml/2006/main" w="9525">
            <a:solidFill>
              <a:srgbClr val="D7DE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94427-7DB0-492A-B8CC-FC8DB86B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333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46584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6584E"/>
                </a:solidFill>
              </a:defRPr>
            </a:pPr>
            <a:r>
              <a:rPr sz="1275" b="0">
                <a:solidFill>
                  <a:srgbClr val="46584E"/>
                </a:solidFill>
              </a:rPr>
              <a:t>EDUCATION 0, 4, 5, 6 và MARRIAGE 0, 3 có rất ít mẫu.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39B35D-168E-488E-8069-584585EE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095875"/>
            <a:ext cx="233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C87B61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C87B61"/>
                </a:solidFill>
              </a:defRPr>
            </a:pPr>
            <a:r>
              <a:rPr sz="1125" b="1">
                <a:solidFill>
                  <a:srgbClr val="C87B61"/>
                </a:solidFill>
              </a:rPr>
              <a:t>Không suy diễn quan hệ nhân quả.</a:t>
            </a:r>
          </a:p>
        </p:txBody>
      </p:sp>
    </p:spTree>
    <p:extLst>
      <p:ext uri="{BB962C8B-B14F-4D97-AF65-F5344CB8AC3E}">
        <p14:creationId xmlns:p14="http://schemas.microsoft.com/office/powerpoint/2010/main" val="14084420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007864-CB37-4DDD-B60A-D1575AB3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C87B61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87B61"/>
                </a:solidFill>
              </a:defRPr>
            </a:pPr>
            <a:r>
              <a:rPr sz="1050" b="1">
                <a:solidFill>
                  <a:srgbClr val="C87B61"/>
                </a:solidFill>
              </a:rPr>
              <a:t>10   /   TỪ MÔ HÌNH ĐẾN SẢN PHẨM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DD950B-5C16-4F92-8BA6-A0921DE5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293B34"/>
                </a:solidFill>
              </a:defRPr>
            </a:pPr>
            <a:r>
              <a:rPr sz="2925" b="1">
                <a:solidFill>
                  <a:srgbClr val="293B34"/>
                </a:solidFill>
              </a:rPr>
              <a:t>Tách huấn luyện offline và phục vụ online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9D27F-06AE-4DE9-B61F-CDD79917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716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758278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58278"/>
                </a:solidFill>
              </a:defRPr>
            </a:pPr>
            <a:r>
              <a:rPr sz="1200" b="0">
                <a:solidFill>
                  <a:srgbClr val="758278"/>
                </a:solidFill>
              </a:rPr>
              <a:t>Ứng dụng chỉ nạp pipeline đã lưu, không train khi nhận request.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E659D-7A89-4A69-9034-23B12952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EFD500-C586-4D0B-B1F0-876C947A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371DD-12CB-46E3-A569-B8DAEF30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DD85B-8114-46C6-B544-C469B4E1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0A676-751E-420A-8328-CF42A6BC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4865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3"/>
          </a:solidFill>
          <a:ln xmlns:a="http://schemas.openxmlformats.org/drawingml/2006/main" w="9525">
            <a:solidFill>
              <a:srgbClr val="D7DE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B8BDB0-FEA7-4B2A-8B05-0384EAA3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98A198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98A198"/>
                </a:solidFill>
              </a:defRPr>
            </a:pPr>
            <a:r>
              <a:rPr sz="825" b="1">
                <a:solidFill>
                  <a:srgbClr val="98A198"/>
                </a:solidFill>
              </a:rPr>
              <a:t>DỰ ĐOÁN RỦI RO THẺ TÍN DỤNG  •  HỌC MÁY CƠ BẢN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62CF16-B9CD-451B-9798-B199C0B6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738F7D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38F7D"/>
                </a:solidFill>
              </a:defRPr>
            </a:pPr>
            <a:r>
              <a:rPr sz="900" b="1">
                <a:solidFill>
                  <a:srgbClr val="738F7D"/>
                </a:solidFill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7013F8-DBE4-4807-8C0C-503A1AD1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95500"/>
            <a:ext cx="2333625" cy="25241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E6AC7D-BDB5-4166-9703-813E8832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352675"/>
            <a:ext cx="428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B4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01A48D-2668-42E0-A1C1-F8FE66BF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955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758278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58278"/>
                </a:solidFill>
              </a:defRPr>
            </a:pPr>
            <a:r>
              <a:rPr sz="975" b="1">
                <a:solidFill>
                  <a:srgbClr val="758278"/>
                </a:solidFill>
              </a:rPr>
              <a:t>DỮ LIỆU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835004-6F59-4197-A51B-F7A9D825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95625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93B34"/>
                </a:solidFill>
              </a:defRPr>
            </a:pPr>
            <a:r>
              <a:rPr sz="1725" b="1">
                <a:solidFill>
                  <a:srgbClr val="293B34"/>
                </a:solidFill>
              </a:rPr>
              <a:t>UCI Credit Card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63E9BD-1BB3-4619-A36D-F74230EF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9525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46584E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6584E"/>
                </a:solidFill>
              </a:defRPr>
            </a:pPr>
            <a:r>
              <a:rPr sz="1200" b="0">
                <a:solidFill>
                  <a:srgbClr val="46584E"/>
                </a:solidFill>
              </a:rPr>
              <a:t>30.000 bản ghi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65CED5-24F9-41E3-8A93-7B8E8AC5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1908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738F7D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738F7D"/>
                </a:solidFill>
              </a:defRPr>
            </a:pPr>
            <a:r>
              <a:rPr sz="1725" b="1">
                <a:solidFill>
                  <a:srgbClr val="738F7D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3C500D-8458-45AC-A9CA-D43C93A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95500"/>
            <a:ext cx="2333625" cy="25241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2B6630-9F35-4B84-A4C8-4BBCAE16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52675"/>
            <a:ext cx="428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8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7F8FFB-CFE4-421C-B31B-231E9848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6955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758278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58278"/>
                </a:solidFill>
              </a:defRPr>
            </a:pPr>
            <a:r>
              <a:rPr sz="975" b="1">
                <a:solidFill>
                  <a:srgbClr val="758278"/>
                </a:solidFill>
              </a:rPr>
              <a:t>TRAIN OFFLINE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2CFB06-D752-4159-A42B-2BC0ADA3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095625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93B34"/>
                </a:solidFill>
              </a:defRPr>
            </a:pPr>
            <a:r>
              <a:rPr sz="1725" b="1">
                <a:solidFill>
                  <a:srgbClr val="293B34"/>
                </a:solidFill>
              </a:rPr>
              <a:t>Pipeline joblib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C3FCDD-FAE4-410C-900B-99553E4A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819525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46584E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6584E"/>
                </a:solidFill>
              </a:defRPr>
            </a:pPr>
            <a:r>
              <a:rPr sz="1200" b="0">
                <a:solidFill>
                  <a:srgbClr val="46584E"/>
                </a:solidFill>
              </a:rPr>
              <a:t>Logistic Regression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5A340E-FA4C-4997-9A4B-CDCD687E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738F7D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738F7D"/>
                </a:solidFill>
              </a:defRPr>
            </a:pPr>
            <a:r>
              <a:rPr sz="1725" b="1">
                <a:solidFill>
                  <a:srgbClr val="738F7D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3FDB77-8ED3-42A6-B9AB-BC74B8BD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095500"/>
            <a:ext cx="2333625" cy="25241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AE8E0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F8D1C9-E2CE-4479-B507-4BCD367A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352675"/>
            <a:ext cx="428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2E3335-4FC2-4CD8-B697-E15CCD17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758278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58278"/>
                </a:solidFill>
              </a:defRPr>
            </a:pPr>
            <a:r>
              <a:rPr sz="975" b="1">
                <a:solidFill>
                  <a:srgbClr val="758278"/>
                </a:solidFill>
              </a:rPr>
              <a:t>ONLINE SERVING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F68D2C-3E67-4533-9DDE-33F001F6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95625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93B34"/>
                </a:solidFill>
              </a:defRPr>
            </a:pPr>
            <a:r>
              <a:rPr sz="1725" b="1">
                <a:solidFill>
                  <a:srgbClr val="293B34"/>
                </a:solidFill>
              </a:rPr>
              <a:t>FastAPI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24EDD9-E10B-4CCA-807E-71D4CD25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9525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46584E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6584E"/>
                </a:solidFill>
              </a:defRPr>
            </a:pPr>
            <a:r>
              <a:rPr sz="1200" b="0">
                <a:solidFill>
                  <a:srgbClr val="46584E"/>
                </a:solidFill>
              </a:rPr>
              <a:t>POST /api/risk-score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4319E8-6D17-4532-8CE4-E5F65E71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1908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738F7D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738F7D"/>
                </a:solidFill>
              </a:defRPr>
            </a:pPr>
            <a:r>
              <a:rPr sz="1725" b="1">
                <a:solidFill>
                  <a:srgbClr val="738F7D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9C27D3-72CC-4B6A-AA2B-FD71BA1D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95500"/>
            <a:ext cx="2333625" cy="25241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7CBC9A-7439-496E-A854-9922BCF9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52675"/>
            <a:ext cx="428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8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00F182-CF59-4913-9673-F6EE9F99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955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758278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58278"/>
                </a:solidFill>
              </a:defRPr>
            </a:pPr>
            <a:r>
              <a:rPr sz="975" b="1">
                <a:solidFill>
                  <a:srgbClr val="758278"/>
                </a:solidFill>
              </a:rPr>
              <a:t>GIAO DIỆN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43E740-AA00-423E-9675-06B73F08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95625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93B34"/>
                </a:solidFill>
              </a:defRPr>
            </a:pPr>
            <a:r>
              <a:rPr sz="1725" b="1">
                <a:solidFill>
                  <a:srgbClr val="293B34"/>
                </a:solidFill>
              </a:rPr>
              <a:t>Web tiếng Việt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A47714-8153-48B0-A986-D081DC07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819525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46584E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6584E"/>
                </a:solidFill>
              </a:defRPr>
            </a:pPr>
            <a:r>
              <a:rPr sz="1200" b="0">
                <a:solidFill>
                  <a:srgbClr val="46584E"/>
                </a:solidFill>
              </a:rPr>
              <a:t>Giới thiệu / Mô phỏng / Dashboard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B0F22F-3E8F-4DA2-BDE3-8B31C610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105537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8EFE6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447FEE-FBDF-463B-BFFC-763AA150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410200"/>
            <a:ext cx="1000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93B34"/>
                </a:solidFill>
              </a:defRPr>
            </a:pPr>
            <a:r>
              <a:rPr sz="1275" b="1">
                <a:solidFill>
                  <a:srgbClr val="293B34"/>
                </a:solidFill>
              </a:rPr>
              <a:t>API kiểm tra 23 trường, từ chối ID/target, dữ liệu thiếu, sai kiểu và giá trị không hữu hạn.</a:t>
            </a:r>
          </a:p>
        </p:txBody>
      </p:sp>
    </p:spTree>
    <p:extLst>
      <p:ext uri="{BB962C8B-B14F-4D97-AF65-F5344CB8AC3E}">
        <p14:creationId xmlns:p14="http://schemas.microsoft.com/office/powerpoint/2010/main" val="21143543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A1F290-F3ED-4CFF-A09F-C9CDDBA0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C87B61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87B61"/>
                </a:solidFill>
              </a:defRPr>
            </a:pPr>
            <a:r>
              <a:rPr sz="1050" b="1">
                <a:solidFill>
                  <a:srgbClr val="C87B61"/>
                </a:solidFill>
              </a:rPr>
              <a:t>11   /   ỨNG DỤNG &amp;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09023-3281-4678-804F-914B1BDE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293B34"/>
                </a:solidFill>
              </a:defRPr>
            </a:pPr>
            <a:r>
              <a:rPr sz="2925" b="1">
                <a:solidFill>
                  <a:srgbClr val="293B34"/>
                </a:solidFill>
              </a:rPr>
              <a:t>Sản phẩm có thể trải nghiệm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FB529-C7F3-4FF8-A3B6-52D12303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716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758278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58278"/>
                </a:solidFill>
              </a:defRPr>
            </a:pPr>
            <a:r>
              <a:rPr sz="1200" b="0">
                <a:solidFill>
                  <a:srgbClr val="758278"/>
                </a:solidFill>
              </a:rPr>
              <a:t>Mô phỏng cho một khách hàng mới theo cùng schema với dữ liệu UCI.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C174A-308D-4F4C-B54A-E91F732C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DB61B-5465-46DE-822D-6E279BCC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7B4B0-506C-4FE7-B43E-71EA8097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2339A7-EBE5-4A9F-98FC-6DA034C5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57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46E"/>
          </a:solidFill>
          <a:ln xmlns:a="http://schemas.openxmlformats.org/drawingml/2006/main" w="9525">
            <a:solidFill>
              <a:srgbClr val="D8B4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704F8-4D6C-4B42-B19F-AE1D89FF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4865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3"/>
          </a:solidFill>
          <a:ln xmlns:a="http://schemas.openxmlformats.org/drawingml/2006/main" w="9525">
            <a:solidFill>
              <a:srgbClr val="D7DE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F7F04-E3C9-4F7E-8019-B7C8D752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98A198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98A198"/>
                </a:solidFill>
              </a:defRPr>
            </a:pPr>
            <a:r>
              <a:rPr sz="825" b="1">
                <a:solidFill>
                  <a:srgbClr val="98A198"/>
                </a:solidFill>
              </a:rPr>
              <a:t>DỰ ĐOÁN RỦI RO THẺ TÍN DỤNG  •  HỌC MÁY CƠ BẢN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E0A6BF-354E-4667-AD25-368E8542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738F7D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38F7D"/>
                </a:solidFill>
              </a:defRPr>
            </a:pPr>
            <a:r>
              <a:rPr sz="900" b="1">
                <a:solidFill>
                  <a:srgbClr val="738F7D"/>
                </a:solidFill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82448-4C89-4879-B3E9-413799EA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38325"/>
            <a:ext cx="730567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3339DE-4923-4D6C-9BE4-D42D3FE510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d8c11bb49a44ba"/>
          <a:stretch xmlns:a="http://schemas.openxmlformats.org/drawingml/2006/main"/>
        </p:blipFill>
        <p:spPr>
          <a:xfrm xmlns:a="http://schemas.openxmlformats.org/drawingml/2006/main">
            <a:off x="2548191" y="2038350"/>
            <a:ext cx="3761868" cy="34290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150DB8-5F84-4A25-8053-FEF1F481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05450"/>
            <a:ext cx="6572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738F7D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38F7D"/>
                </a:solidFill>
              </a:defRPr>
            </a:pPr>
            <a:r>
              <a:rPr sz="975" b="1">
                <a:solidFill>
                  <a:srgbClr val="738F7D"/>
                </a:solidFill>
              </a:rPr>
              <a:t>01   MÔ PHỎNG ĐIỂM RỦI 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6BB9AE-3608-4659-B10E-21CCCCD7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838325"/>
            <a:ext cx="3105150" cy="1895475"/>
          </a:xfrm>
          <a:prstGeom xmlns:a="http://schemas.openxmlformats.org/drawingml/2006/main" prst="roundRect">
            <a:avLst>
              <a:gd name="adj" fmla="val 6030"/>
            </a:avLst>
          </a:prstGeom>
          <a:solidFill xmlns:a="http://schemas.openxmlformats.org/drawingml/2006/main">
            <a:srgbClr val="E8EFE6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FAD130-4A33-4E07-8879-93ED74BA6F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cf746bd374bfd"/>
          <a:stretch xmlns:a="http://schemas.openxmlformats.org/drawingml/2006/main"/>
        </p:blipFill>
        <p:spPr>
          <a:xfrm xmlns:a="http://schemas.openxmlformats.org/drawingml/2006/main">
            <a:off x="8496300" y="2093912"/>
            <a:ext cx="2705100" cy="11271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FA55B5-3F8B-4379-9817-3C97210D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448050"/>
            <a:ext cx="2476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738F7D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38F7D"/>
                </a:solidFill>
              </a:defRPr>
            </a:pPr>
            <a:r>
              <a:rPr sz="975" b="1">
                <a:solidFill>
                  <a:srgbClr val="738F7D"/>
                </a:solidFill>
              </a:rPr>
              <a:t>02   PR / ROC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2C1A29-02F4-4B9F-B9B7-5558C181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933825"/>
            <a:ext cx="3105150" cy="1895475"/>
          </a:xfrm>
          <a:prstGeom xmlns:a="http://schemas.openxmlformats.org/drawingml/2006/main" prst="roundRect">
            <a:avLst>
              <a:gd name="adj" fmla="val 6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815A92-91D7-429C-A57A-01C59EC314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a88017911640cd"/>
          <a:stretch xmlns:a="http://schemas.openxmlformats.org/drawingml/2006/main"/>
        </p:blipFill>
        <p:spPr>
          <a:xfrm xmlns:a="http://schemas.openxmlformats.org/drawingml/2006/main">
            <a:off x="9059863" y="4076700"/>
            <a:ext cx="1577975" cy="13525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62E401-CF7E-4BD8-B5F5-86C66A48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534025"/>
            <a:ext cx="2476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738F7D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38F7D"/>
                </a:solidFill>
              </a:defRPr>
            </a:pPr>
            <a:r>
              <a:rPr sz="975" b="1">
                <a:solidFill>
                  <a:srgbClr val="738F7D"/>
                </a:solidFill>
              </a:rPr>
              <a:t>03   CALIBRATION</a:t>
            </a:r>
          </a:p>
        </p:txBody>
      </p:sp>
    </p:spTree>
    <p:extLst>
      <p:ext uri="{BB962C8B-B14F-4D97-AF65-F5344CB8AC3E}">
        <p14:creationId xmlns:p14="http://schemas.microsoft.com/office/powerpoint/2010/main" val="4995049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C2AF77-AF70-4EFA-A46F-39CC8BA1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BB6F4-BF7B-43AE-B6AD-49FB7958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690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C87B61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87B61"/>
                </a:solidFill>
              </a:defRPr>
            </a:pPr>
            <a:r>
              <a:rPr sz="1050" b="1">
                <a:solidFill>
                  <a:srgbClr val="C87B61"/>
                </a:solidFill>
              </a:rPr>
              <a:t>12   /   KẾT LUẬN &amp; HƯỚNG PHÁT TRIỂN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34D8A-7E48-46F0-9838-95DA25D9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69532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450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93B34"/>
                </a:solidFill>
              </a:defRPr>
            </a:pPr>
            <a:r>
              <a:rPr sz="3450" b="1">
                <a:solidFill>
                  <a:srgbClr val="293B34"/>
                </a:solidFill>
              </a:rPr>
              <a:t>Một pipeline</a:t>
            </a:r>
          </a:p>
          <a:p xmlns:a="http://schemas.openxmlformats.org/drawingml/2006/main">
            <a:pPr>
              <a:defRPr sz="3450" b="1">
                <a:solidFill>
                  <a:srgbClr val="293B34"/>
                </a:solidFill>
              </a:defRPr>
            </a:pPr>
            <a:r>
              <a:rPr sz="3450" b="1">
                <a:solidFill>
                  <a:srgbClr val="293B34"/>
                </a:solidFill>
              </a:rPr>
              <a:t>minh bạch, có thể</a:t>
            </a:r>
          </a:p>
          <a:p xmlns:a="http://schemas.openxmlformats.org/drawingml/2006/main">
            <a:pPr>
              <a:defRPr sz="3450" b="1">
                <a:solidFill>
                  <a:srgbClr val="293B34"/>
                </a:solidFill>
              </a:defRPr>
            </a:pPr>
            <a:r>
              <a:rPr sz="3450" b="1">
                <a:solidFill>
                  <a:srgbClr val="293B34"/>
                </a:solidFill>
              </a:rPr>
              <a:t>kiểm tra lại.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CCCF8-24A8-4AFB-92EE-3E2BC912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705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8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4AFF2-290A-4BC3-9F28-75199E18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667125"/>
            <a:ext cx="642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46584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6584E"/>
                </a:solidFill>
              </a:defRPr>
            </a:pPr>
            <a:r>
              <a:rPr sz="1275" b="0">
                <a:solidFill>
                  <a:srgbClr val="46584E"/>
                </a:solidFill>
              </a:rPr>
              <a:t>Nhóm giữ test độc lập và chọn ngưỡng bằng validation.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9EAA7-0769-455D-8B03-486A9DD9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76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B550E-269A-47FE-AA2D-74FF86B9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238625"/>
            <a:ext cx="642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46584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6584E"/>
                </a:solidFill>
              </a:defRPr>
            </a:pPr>
            <a:r>
              <a:rPr sz="1275" b="0">
                <a:solidFill>
                  <a:srgbClr val="46584E"/>
                </a:solidFill>
              </a:rPr>
              <a:t>Ngưỡng 0,150 ưu tiên phát hiện default, chấp nhận cảnh báo nhầm.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00E1BC-838D-4497-A3D8-01A60E4F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848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8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CECD28-D002-428C-9AF1-D3DDBC63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810125"/>
            <a:ext cx="642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46584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6584E"/>
                </a:solidFill>
              </a:defRPr>
            </a:pPr>
            <a:r>
              <a:rPr sz="1275" b="0">
                <a:solidFill>
                  <a:srgbClr val="46584E"/>
                </a:solidFill>
              </a:rPr>
              <a:t>Web/API chỉ phục vụ học tập và hỗ trợ nhắc thanh toán.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84EB6-00AC-4130-A9B8-BF135210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72150"/>
            <a:ext cx="6486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3"/>
          </a:solidFill>
          <a:ln xmlns:a="http://schemas.openxmlformats.org/drawingml/2006/main" w="9525">
            <a:solidFill>
              <a:srgbClr val="D7DE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96898-78D4-4A60-AA5C-85E5B725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962650"/>
            <a:ext cx="676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93B34"/>
                </a:solidFill>
              </a:defRPr>
            </a:pPr>
            <a:r>
              <a:rPr sz="1350" b="1">
                <a:solidFill>
                  <a:srgbClr val="293B34"/>
                </a:solidFill>
              </a:rPr>
              <a:t>CẢM ƠN THẦY/CÔ VÀ CÁC BẠN  •  Q&amp;A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5C5765-F023-46A7-A0C8-39459AF5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171575"/>
            <a:ext cx="2324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E66287-DBFA-403B-B0A2-A7D23F14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209675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738F7D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38F7D"/>
                </a:solidFill>
              </a:defRPr>
            </a:pPr>
            <a:r>
              <a:rPr sz="975" b="1">
                <a:solidFill>
                  <a:srgbClr val="738F7D"/>
                </a:solidFill>
              </a:rPr>
              <a:t>GIỚI HẠN HIỆN TẠI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C38D47-41B4-486C-9DEB-F37BA400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819275"/>
            <a:ext cx="319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293B34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93B34"/>
                </a:solidFill>
              </a:defRPr>
            </a:pPr>
            <a:r>
              <a:rPr sz="1575" b="0">
                <a:solidFill>
                  <a:srgbClr val="293B34"/>
                </a:solidFill>
              </a:rPr>
              <a:t>Dữ liệu lịch sử</a:t>
            </a:r>
          </a:p>
          <a:p xmlns:a="http://schemas.openxmlformats.org/drawingml/2006/main">
            <a:pPr>
              <a:defRPr sz="1575" b="0">
                <a:solidFill>
                  <a:srgbClr val="293B34"/>
                </a:solidFill>
              </a:defRPr>
            </a:pPr>
            <a:r>
              <a:rPr sz="1575" b="0">
                <a:solidFill>
                  <a:srgbClr val="293B34"/>
                </a:solidFill>
              </a:rPr>
              <a:t>một nguồn</a:t>
            </a:r>
          </a:p>
          <a:p xmlns:a="http://schemas.openxmlformats.org/drawingml/2006/main">
            <a:pPr>
              <a:defRPr sz="1575" b="0">
                <a:solidFill>
                  <a:srgbClr val="293B34"/>
                </a:solidFill>
              </a:defRPr>
            </a:pPr>
            <a:r>
              <a:rPr sz="1575" b="0">
                <a:solidFill>
                  <a:srgbClr val="293B34"/>
                </a:solidFill>
              </a:rPr>
              <a:t>Chi phí là giả định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B6FA45-7D34-4F68-BA62-A3DCC4AE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5052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3"/>
          </a:solidFill>
          <a:ln xmlns:a="http://schemas.openxmlformats.org/drawingml/2006/main" w="9525">
            <a:solidFill>
              <a:srgbClr val="D7DE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C4B638-D55B-4A8D-B34B-21BFB2CE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829050"/>
            <a:ext cx="2124075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A113E4-66E5-47E1-8295-28643345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867150"/>
            <a:ext cx="1895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738F7D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38F7D"/>
                </a:solidFill>
              </a:defRPr>
            </a:pPr>
            <a:r>
              <a:rPr sz="975" b="1">
                <a:solidFill>
                  <a:srgbClr val="738F7D"/>
                </a:solidFill>
              </a:rPr>
              <a:t>BƯỚC TIẾP THEO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40EF95-E989-429F-9D74-2DDE3E55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429125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6584E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6584E"/>
                </a:solidFill>
              </a:defRPr>
            </a:pPr>
            <a:r>
              <a:rPr sz="1500" b="0">
                <a:solidFill>
                  <a:srgbClr val="46584E"/>
                </a:solidFill>
              </a:rPr>
              <a:t>Đánh giá trên dữ liệu mới, theo dõi drift và rà soát lại chi phí theo nghiệp vụ.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DC8ADE-A6BC-4CA5-918A-2A236DC8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286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7B61"/>
          </a:solidFill>
          <a:ln xmlns:a="http://schemas.openxmlformats.org/drawingml/2006/main" w="9525">
            <a:solidFill>
              <a:srgbClr val="C87B6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FA2AB2-6492-441F-9A9E-A59DF165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6286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7B61"/>
          </a:solidFill>
          <a:ln xmlns:a="http://schemas.openxmlformats.org/drawingml/2006/main" w="9525">
            <a:solidFill>
              <a:srgbClr val="C87B6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553BFE-7A9B-4D1E-8035-E4638CA8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286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7B61"/>
          </a:solidFill>
          <a:ln xmlns:a="http://schemas.openxmlformats.org/drawingml/2006/main" w="9525">
            <a:solidFill>
              <a:srgbClr val="C87B6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D97279-03F4-44CB-B9F2-9F1FCB5B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6286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7B61"/>
          </a:solidFill>
          <a:ln xmlns:a="http://schemas.openxmlformats.org/drawingml/2006/main" w="9525">
            <a:solidFill>
              <a:srgbClr val="C87B6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8DD4C0-3964-434A-8163-D4909F40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286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7B61"/>
          </a:solidFill>
          <a:ln xmlns:a="http://schemas.openxmlformats.org/drawingml/2006/main" w="9525">
            <a:solidFill>
              <a:srgbClr val="C87B6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2388CB-98D4-433E-9D88-1F5617EC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6286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7B61"/>
          </a:solidFill>
          <a:ln xmlns:a="http://schemas.openxmlformats.org/drawingml/2006/main" w="9525">
            <a:solidFill>
              <a:srgbClr val="C87B6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089811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2026-10-11T15:41:53.2800000Z</dcterms:created>
  <dcterms:modified xsi:type="dcterms:W3CDTF">2026-10-11T15:41:53.2800000Z</dcterms:modified>
</coreProperties>
</file>